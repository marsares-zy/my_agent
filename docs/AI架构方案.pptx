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246120"/>
            <a:ext cx="1371600" cy="73152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515600" cy="1371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4400" b="1">
                <a:solidFill>
                  <a:srgbClr val="FFFFFF"/>
                </a:solidFill>
                <a:latin typeface="Microsoft YaHei"/>
                <a:ea typeface="Microsoft YaHei"/>
              </a:rPr>
              <a:t>Android 车机 AI 集成架构方案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0"/>
            <a:ext cx="1051560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0">
                <a:solidFill>
                  <a:srgbClr val="C9D6EA"/>
                </a:solidFill>
                <a:latin typeface="Microsoft YaHei"/>
                <a:ea typeface="Microsoft YaHei"/>
              </a:rPr>
              <a:t>基于 Google ADK Kotlin (Android) + 可插拔 AIBox 大模型推理盒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114800"/>
            <a:ext cx="1051560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C9D6EA"/>
                </a:solidFill>
                <a:latin typeface="Microsoft YaHei"/>
                <a:ea typeface="Microsoft YaHei"/>
              </a:rPr>
              <a:t>核心理念：Agent 是大脑的“意志”，AIBox 是大脑的“算力”</a:t>
            </a:r>
          </a:p>
          <a:p>
            <a:pPr algn="l">
              <a:lnSpc>
                <a:spcPct val="110000"/>
              </a:lnSpc>
            </a:pPr>
            <a:r>
              <a:rPr sz="1500" b="0">
                <a:solidFill>
                  <a:srgbClr val="C9D6EA"/>
                </a:solidFill>
                <a:latin typeface="Microsoft YaHei"/>
                <a:ea typeface="Microsoft YaHei"/>
              </a:rPr>
              <a:t>语音 / UI / 物理按键 → ADK Agent 主导循环 ⇄ AIBox 推理 → Agent 执行 Tools → 反馈用户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035040"/>
            <a:ext cx="73152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6B7280"/>
                </a:solidFill>
                <a:latin typeface="Microsoft YaHei"/>
                <a:ea typeface="Microsoft YaHei"/>
              </a:rPr>
              <a:t>v1.0 · 2026-09-04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914400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FFFFFF"/>
                </a:solidFill>
                <a:latin typeface="Microsoft YaHei"/>
                <a:ea typeface="Microsoft YaHei"/>
              </a:rPr>
              <a:t>目录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6B7280"/>
                </a:solidFill>
                <a:latin typeface="Microsoft YaHei"/>
                <a:ea typeface="Microsoft YaHei"/>
              </a:rPr>
              <a:t>Android 车机 AI 集成架构方案 · ADK Kotlin + 可插拔 AIBox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92240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6B7280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7" name="Oval 6"/>
          <p:cNvSpPr/>
          <p:nvPr/>
        </p:nvSpPr>
        <p:spPr>
          <a:xfrm>
            <a:off x="731520" y="1371600"/>
            <a:ext cx="640080" cy="640080"/>
          </a:xfrm>
          <a:prstGeom prst="ellipse">
            <a:avLst/>
          </a:prstGeom>
          <a:solidFill>
            <a:srgbClr val="F28C28"/>
          </a:solidFill>
          <a:ln w="15875">
            <a:solidFill>
              <a:srgbClr val="F28C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1371600"/>
            <a:ext cx="4572000" cy="6400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F2937"/>
                </a:solidFill>
                <a:latin typeface="Microsoft YaHei"/>
                <a:ea typeface="Microsoft YaHei"/>
              </a:rPr>
              <a:t>方案概述与设计原则</a:t>
            </a:r>
          </a:p>
        </p:txBody>
      </p:sp>
      <p:sp>
        <p:nvSpPr>
          <p:cNvPr id="9" name="Oval 8"/>
          <p:cNvSpPr/>
          <p:nvPr/>
        </p:nvSpPr>
        <p:spPr>
          <a:xfrm>
            <a:off x="731520" y="2331720"/>
            <a:ext cx="640080" cy="640080"/>
          </a:xfrm>
          <a:prstGeom prst="ellipse">
            <a:avLst/>
          </a:prstGeom>
          <a:solidFill>
            <a:srgbClr val="F28C28"/>
          </a:solidFill>
          <a:ln w="15875">
            <a:solidFill>
              <a:srgbClr val="F28C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2331720"/>
            <a:ext cx="4572000" cy="6400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F2937"/>
                </a:solidFill>
                <a:latin typeface="Microsoft YaHei"/>
                <a:ea typeface="Microsoft YaHei"/>
              </a:rPr>
              <a:t>整体架构（分层 / 部署）</a:t>
            </a:r>
          </a:p>
        </p:txBody>
      </p:sp>
      <p:sp>
        <p:nvSpPr>
          <p:cNvPr id="11" name="Oval 10"/>
          <p:cNvSpPr/>
          <p:nvPr/>
        </p:nvSpPr>
        <p:spPr>
          <a:xfrm>
            <a:off x="731520" y="3291840"/>
            <a:ext cx="640080" cy="640080"/>
          </a:xfrm>
          <a:prstGeom prst="ellipse">
            <a:avLst/>
          </a:prstGeom>
          <a:solidFill>
            <a:srgbClr val="F28C28"/>
          </a:solidFill>
          <a:ln w="15875">
            <a:solidFill>
              <a:srgbClr val="F28C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3291840"/>
            <a:ext cx="4572000" cy="6400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F2937"/>
                </a:solidFill>
                <a:latin typeface="Microsoft YaHei"/>
                <a:ea typeface="Microsoft YaHei"/>
              </a:rPr>
              <a:t>核心交互流程（时序 / 状态机）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4251960"/>
            <a:ext cx="640080" cy="640080"/>
          </a:xfrm>
          <a:prstGeom prst="ellipse">
            <a:avLst/>
          </a:prstGeom>
          <a:solidFill>
            <a:srgbClr val="F28C28"/>
          </a:solidFill>
          <a:ln w="15875">
            <a:solidFill>
              <a:srgbClr val="F28C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</a:rP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4251960"/>
            <a:ext cx="4572000" cy="6400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F2937"/>
                </a:solidFill>
                <a:latin typeface="Microsoft YaHei"/>
                <a:ea typeface="Microsoft YaHei"/>
              </a:rPr>
              <a:t>模块详细设计（输入 / Agent / 通信 / Tools / 输出）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" y="5212080"/>
            <a:ext cx="640080" cy="640080"/>
          </a:xfrm>
          <a:prstGeom prst="ellipse">
            <a:avLst/>
          </a:prstGeom>
          <a:solidFill>
            <a:srgbClr val="F28C28"/>
          </a:solidFill>
          <a:ln w="15875">
            <a:solidFill>
              <a:srgbClr val="F28C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</a:rPr>
              <a:t>05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5212080"/>
            <a:ext cx="4572000" cy="6400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F2937"/>
                </a:solidFill>
                <a:latin typeface="Microsoft YaHei"/>
                <a:ea typeface="Microsoft YaHei"/>
              </a:rPr>
              <a:t>AIBox 热插拔与降级策略</a:t>
            </a:r>
          </a:p>
        </p:txBody>
      </p:sp>
      <p:sp>
        <p:nvSpPr>
          <p:cNvPr id="17" name="Oval 16"/>
          <p:cNvSpPr/>
          <p:nvPr/>
        </p:nvSpPr>
        <p:spPr>
          <a:xfrm>
            <a:off x="6492240" y="1371600"/>
            <a:ext cx="640080" cy="640080"/>
          </a:xfrm>
          <a:prstGeom prst="ellipse">
            <a:avLst/>
          </a:prstGeom>
          <a:solidFill>
            <a:srgbClr val="F28C28"/>
          </a:solidFill>
          <a:ln w="15875">
            <a:solidFill>
              <a:srgbClr val="F28C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</a:rPr>
              <a:t>06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0" y="1371600"/>
            <a:ext cx="4572000" cy="6400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F2937"/>
                </a:solidFill>
                <a:latin typeface="Microsoft YaHei"/>
                <a:ea typeface="Microsoft YaHei"/>
              </a:rPr>
              <a:t>安全与权限设计</a:t>
            </a:r>
          </a:p>
        </p:txBody>
      </p:sp>
      <p:sp>
        <p:nvSpPr>
          <p:cNvPr id="19" name="Oval 18"/>
          <p:cNvSpPr/>
          <p:nvPr/>
        </p:nvSpPr>
        <p:spPr>
          <a:xfrm>
            <a:off x="6492240" y="2331720"/>
            <a:ext cx="640080" cy="640080"/>
          </a:xfrm>
          <a:prstGeom prst="ellipse">
            <a:avLst/>
          </a:prstGeom>
          <a:solidFill>
            <a:srgbClr val="F28C28"/>
          </a:solidFill>
          <a:ln w="15875">
            <a:solidFill>
              <a:srgbClr val="F28C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</a:rPr>
              <a:t>07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0" y="2331720"/>
            <a:ext cx="4572000" cy="6400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F2937"/>
                </a:solidFill>
                <a:latin typeface="Microsoft YaHei"/>
                <a:ea typeface="Microsoft YaHei"/>
              </a:rPr>
              <a:t>性能与时延优化</a:t>
            </a:r>
          </a:p>
        </p:txBody>
      </p:sp>
      <p:sp>
        <p:nvSpPr>
          <p:cNvPr id="21" name="Oval 20"/>
          <p:cNvSpPr/>
          <p:nvPr/>
        </p:nvSpPr>
        <p:spPr>
          <a:xfrm>
            <a:off x="6492240" y="3291840"/>
            <a:ext cx="640080" cy="640080"/>
          </a:xfrm>
          <a:prstGeom prst="ellipse">
            <a:avLst/>
          </a:prstGeom>
          <a:solidFill>
            <a:srgbClr val="F28C28"/>
          </a:solidFill>
          <a:ln w="15875">
            <a:solidFill>
              <a:srgbClr val="F28C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</a:rPr>
              <a:t>08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0" y="3291840"/>
            <a:ext cx="4572000" cy="6400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F2937"/>
                </a:solidFill>
                <a:latin typeface="Microsoft YaHei"/>
                <a:ea typeface="Microsoft YaHei"/>
              </a:rPr>
              <a:t>常见理解误区澄清</a:t>
            </a:r>
          </a:p>
        </p:txBody>
      </p:sp>
      <p:sp>
        <p:nvSpPr>
          <p:cNvPr id="23" name="Oval 22"/>
          <p:cNvSpPr/>
          <p:nvPr/>
        </p:nvSpPr>
        <p:spPr>
          <a:xfrm>
            <a:off x="6492240" y="4251960"/>
            <a:ext cx="640080" cy="640080"/>
          </a:xfrm>
          <a:prstGeom prst="ellipse">
            <a:avLst/>
          </a:prstGeom>
          <a:solidFill>
            <a:srgbClr val="F28C28"/>
          </a:solidFill>
          <a:ln w="15875">
            <a:solidFill>
              <a:srgbClr val="F28C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</a:rPr>
              <a:t>09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0" y="4251960"/>
            <a:ext cx="4572000" cy="6400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F2937"/>
                </a:solidFill>
                <a:latin typeface="Microsoft YaHei"/>
                <a:ea typeface="Microsoft YaHei"/>
              </a:rPr>
              <a:t>工程落地路线图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914400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FFFFFF"/>
                </a:solidFill>
                <a:latin typeface="Microsoft YaHei"/>
                <a:ea typeface="Microsoft YaHei"/>
              </a:rPr>
              <a:t>1. 方案概述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6B7280"/>
                </a:solidFill>
                <a:latin typeface="Microsoft YaHei"/>
                <a:ea typeface="Microsoft YaHei"/>
              </a:rPr>
              <a:t>在 Android 车机 (AAOS) 上集成大模型能力，推理算力由可插拔 AIBox 承担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6B7280"/>
                </a:solidFill>
                <a:latin typeface="Microsoft YaHei"/>
                <a:ea typeface="Microsoft YaHei"/>
              </a:rPr>
              <a:t>Android 车机 AI 集成架构方案 · ADK Kotlin + 可插拔 AIBox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92240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6B7280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371600"/>
            <a:ext cx="53035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1F3A5F"/>
                </a:solidFill>
                <a:latin typeface="Microsoft YaHei"/>
                <a:ea typeface="Microsoft YaHei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783080"/>
            <a:ext cx="53035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1F2937"/>
                </a:solidFill>
                <a:latin typeface="Microsoft YaHei"/>
                <a:ea typeface="Microsoft YaHei"/>
              </a:rPr>
              <a:t>• 自然语言车控：“有点热，把空调调到 22 度”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1F2937"/>
                </a:solidFill>
                <a:latin typeface="Microsoft YaHei"/>
                <a:ea typeface="Microsoft YaHei"/>
              </a:rPr>
              <a:t>• 多轮对话：具备上下文记忆的语音助手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1F2937"/>
                </a:solidFill>
                <a:latin typeface="Microsoft YaHei"/>
                <a:ea typeface="Microsoft YaHei"/>
              </a:rPr>
              <a:t>• 多模态输入：语音、触屏 UI、方向盘物理按键统一进入同一 Agent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1F2937"/>
                </a:solidFill>
                <a:latin typeface="Microsoft YaHei"/>
                <a:ea typeface="Microsoft YaHei"/>
              </a:rPr>
              <a:t>• 算力解耦：大模型运行在可插拔 AIBox，车机本体不承担推理算力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1371600"/>
            <a:ext cx="54864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1F3A5F"/>
                </a:solidFill>
                <a:latin typeface="Microsoft YaHei"/>
                <a:ea typeface="Microsoft YaHei"/>
              </a:rPr>
              <a:t>核心设计原则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217920" y="1783080"/>
          <a:ext cx="5486399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36191"/>
                <a:gridCol w="3950208"/>
              </a:tblGrid>
              <a:tr h="50292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原则</a:t>
                      </a:r>
                    </a:p>
                  </a:txBody>
                  <a:tcPr marL="73152" marR="73152" marT="36576" marB="36576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说明</a:t>
                      </a:r>
                    </a:p>
                  </a:txBody>
                  <a:tcPr marL="73152" marR="73152" marT="36576" marB="36576" anchor="ctr">
                    <a:solidFill>
                      <a:srgbClr val="1F3A5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Agent 为控制中枢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决策循环、工具执行、安全校验都在车机侧 ADK Agent 内完成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AIBox 只做推理</a:t>
                      </a:r>
                    </a:p>
                  </a:txBody>
                  <a:tcPr marL="73152" marR="73152" marT="36576" marB="36576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无状态“算力”，输入 prompt，输出文本 / tool-call 指令</a:t>
                      </a:r>
                    </a:p>
                  </a:txBody>
                  <a:tcPr marL="73152" marR="73152" marT="36576" marB="36576" anchor="ctr">
                    <a:solidFill>
                      <a:srgbClr val="F3F4F6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协议标准化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AIBox 暴露 OpenAI 兼容 API，换模型/换盒子零改动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可降级</a:t>
                      </a:r>
                    </a:p>
                  </a:txBody>
                  <a:tcPr marL="73152" marR="73152" marT="36576" marB="36576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AIBox 未插入 / 故障时，基础车控仍可用</a:t>
                      </a:r>
                    </a:p>
                  </a:txBody>
                  <a:tcPr marL="73152" marR="73152" marT="36576" marB="36576" anchor="ctr">
                    <a:solidFill>
                      <a:srgbClr val="F3F4F6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安全优先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白名单 + 参数校验 + 危险操作二次确认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472287" y="5120640"/>
            <a:ext cx="1920240" cy="822960"/>
          </a:xfrm>
          <a:prstGeom prst="roundRect">
            <a:avLst/>
          </a:prstGeom>
          <a:solidFill>
            <a:srgbClr val="F3F4F6"/>
          </a:solidFill>
          <a:ln w="1587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1F2937"/>
                </a:solidFill>
                <a:latin typeface="Microsoft YaHei"/>
                <a:ea typeface="Microsoft YaHei"/>
              </a:rPr>
              <a:t>用户输入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392527" y="5532120"/>
            <a:ext cx="411480" cy="0"/>
          </a:xfrm>
          <a:prstGeom prst="line">
            <a:avLst/>
          </a:prstGeom>
          <a:ln w="25400">
            <a:solidFill>
              <a:srgbClr val="1F3A5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804007" y="5120640"/>
            <a:ext cx="1920240" cy="822960"/>
          </a:xfrm>
          <a:prstGeom prst="roundRect">
            <a:avLst/>
          </a:prstGeom>
          <a:solidFill>
            <a:srgbClr val="DCEAFB"/>
          </a:solidFill>
          <a:ln w="15875">
            <a:solidFill>
              <a:srgbClr val="2E6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1F2937"/>
                </a:solidFill>
                <a:latin typeface="Microsoft YaHei"/>
                <a:ea typeface="Microsoft YaHei"/>
              </a:rPr>
              <a:t>Agent (车机, ADK)</a:t>
            </a:r>
          </a:p>
          <a:p>
            <a:pPr algn="ctr"/>
            <a:r>
              <a:rPr sz="1100" b="0">
                <a:solidFill>
                  <a:srgbClr val="1F2937"/>
                </a:solidFill>
                <a:latin typeface="Microsoft YaHei"/>
                <a:ea typeface="Microsoft YaHei"/>
              </a:rPr>
              <a:t>主导循环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724247" y="5532120"/>
            <a:ext cx="411480" cy="0"/>
          </a:xfrm>
          <a:prstGeom prst="line">
            <a:avLst/>
          </a:prstGeom>
          <a:ln w="25400">
            <a:solidFill>
              <a:srgbClr val="1F3A5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5135727" y="5120640"/>
            <a:ext cx="1920240" cy="822960"/>
          </a:xfrm>
          <a:prstGeom prst="roundRect">
            <a:avLst/>
          </a:prstGeom>
          <a:solidFill>
            <a:srgbClr val="ECE4F9"/>
          </a:solidFill>
          <a:ln w="15875">
            <a:solidFill>
              <a:srgbClr val="7B4F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1F2937"/>
                </a:solidFill>
                <a:latin typeface="Microsoft YaHei"/>
                <a:ea typeface="Microsoft YaHei"/>
              </a:rPr>
              <a:t>AIBox</a:t>
            </a:r>
          </a:p>
          <a:p>
            <a:pPr algn="ctr"/>
            <a:r>
              <a:rPr sz="1100" b="0">
                <a:solidFill>
                  <a:srgbClr val="1F2937"/>
                </a:solidFill>
                <a:latin typeface="Microsoft YaHei"/>
                <a:ea typeface="Microsoft YaHei"/>
              </a:rPr>
              <a:t>推理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055967" y="5532120"/>
            <a:ext cx="411480" cy="0"/>
          </a:xfrm>
          <a:prstGeom prst="line">
            <a:avLst/>
          </a:prstGeom>
          <a:ln w="25400">
            <a:solidFill>
              <a:srgbClr val="1F3A5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7467447" y="5120640"/>
            <a:ext cx="1920240" cy="822960"/>
          </a:xfrm>
          <a:prstGeom prst="roundRect">
            <a:avLst/>
          </a:prstGeom>
          <a:solidFill>
            <a:srgbClr val="FFEED9"/>
          </a:solidFill>
          <a:ln w="15875">
            <a:solidFill>
              <a:srgbClr val="F28C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1F2937"/>
                </a:solidFill>
                <a:latin typeface="Microsoft YaHei"/>
                <a:ea typeface="Microsoft YaHei"/>
              </a:rPr>
              <a:t>Agent 执行</a:t>
            </a:r>
          </a:p>
          <a:p>
            <a:pPr algn="ctr"/>
            <a:r>
              <a:rPr sz="1100" b="0">
                <a:solidFill>
                  <a:srgbClr val="1F2937"/>
                </a:solidFill>
                <a:latin typeface="Microsoft YaHei"/>
                <a:ea typeface="Microsoft YaHei"/>
              </a:rPr>
              <a:t>Tools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9387687" y="5532120"/>
            <a:ext cx="411480" cy="0"/>
          </a:xfrm>
          <a:prstGeom prst="line">
            <a:avLst/>
          </a:prstGeom>
          <a:ln w="25400">
            <a:solidFill>
              <a:srgbClr val="1F3A5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9799167" y="5120640"/>
            <a:ext cx="1920240" cy="822960"/>
          </a:xfrm>
          <a:prstGeom prst="roundRect">
            <a:avLst/>
          </a:prstGeom>
          <a:solidFill>
            <a:srgbClr val="DFF3E8"/>
          </a:solidFill>
          <a:ln w="15875">
            <a:solidFill>
              <a:srgbClr val="2E9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1F2937"/>
                </a:solidFill>
                <a:latin typeface="Microsoft YaHei"/>
                <a:ea typeface="Microsoft YaHei"/>
              </a:rPr>
              <a:t>反馈用户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32807" y="4800600"/>
            <a:ext cx="109728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>
                <a:solidFill>
                  <a:srgbClr val="7B4FC9"/>
                </a:solidFill>
                <a:latin typeface="Microsoft YaHei"/>
                <a:ea typeface="Microsoft YaHei"/>
              </a:rPr>
              <a:t>⇄ 多轮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914400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FFFFFF"/>
                </a:solidFill>
                <a:latin typeface="Microsoft YaHei"/>
                <a:ea typeface="Microsoft YaHei"/>
              </a:rPr>
              <a:t>2.1 整体分层架构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6B7280"/>
                </a:solidFill>
                <a:latin typeface="Microsoft YaHei"/>
                <a:ea typeface="Microsoft YaHei"/>
              </a:rPr>
              <a:t>五层结构：输入 → Agent → 通信 → Tools → 输出；AIBox 为独立可插拔单元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6B7280"/>
                </a:solidFill>
                <a:latin typeface="Microsoft YaHei"/>
                <a:ea typeface="Microsoft YaHei"/>
              </a:rPr>
              <a:t>Android 车机 AI 集成架构方案 · ADK Kotlin + 可插拔 AIBox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92240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6B7280"/>
                </a:solidFill>
                <a:latin typeface="Microsoft YaHei"/>
                <a:ea typeface="Microsoft YaHei"/>
              </a:rPr>
              <a:t>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1325880"/>
            <a:ext cx="8229600" cy="5074920"/>
          </a:xfrm>
          <a:prstGeom prst="roundRect">
            <a:avLst>
              <a:gd name="adj" fmla="val 4000"/>
            </a:avLst>
          </a:prstGeom>
          <a:solidFill>
            <a:srgbClr val="FAFBFD"/>
          </a:solidFill>
          <a:ln w="12700">
            <a:solidFill>
              <a:srgbClr val="1F3A5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353312"/>
            <a:ext cx="804672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1F3A5F"/>
                </a:solidFill>
                <a:latin typeface="Microsoft YaHei"/>
                <a:ea typeface="Microsoft YaHei"/>
              </a:rPr>
              <a:t>🚗 车机 Android (AAOS)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691640"/>
            <a:ext cx="7863840" cy="868680"/>
          </a:xfrm>
          <a:prstGeom prst="roundRect">
            <a:avLst>
              <a:gd name="adj" fmla="val 4000"/>
            </a:avLst>
          </a:prstGeom>
          <a:solidFill>
            <a:srgbClr val="F3F4F6"/>
          </a:solidFill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719072"/>
            <a:ext cx="768096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6B7280"/>
                </a:solidFill>
                <a:latin typeface="Microsoft YaHei"/>
                <a:ea typeface="Microsoft YaHei"/>
              </a:rPr>
              <a:t>① 输入层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1965960"/>
            <a:ext cx="2286000" cy="53035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00" b="1">
                <a:solidFill>
                  <a:srgbClr val="1F2937"/>
                </a:solidFill>
                <a:latin typeface="Microsoft YaHei"/>
                <a:ea typeface="Microsoft YaHei"/>
              </a:rPr>
              <a:t>♪ 语音助手</a:t>
            </a:r>
          </a:p>
          <a:p>
            <a:pPr algn="ctr"/>
            <a:r>
              <a:rPr sz="900" b="0">
                <a:solidFill>
                  <a:srgbClr val="1F2937"/>
                </a:solidFill>
                <a:latin typeface="Microsoft YaHei"/>
                <a:ea typeface="Microsoft YaHei"/>
              </a:rPr>
              <a:t>(唤醒 + ASR)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83279" y="1965960"/>
            <a:ext cx="2286000" cy="53035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00" b="1">
                <a:solidFill>
                  <a:srgbClr val="1F2937"/>
                </a:solidFill>
                <a:latin typeface="Microsoft YaHei"/>
                <a:ea typeface="Microsoft YaHei"/>
              </a:rPr>
              <a:t>▣ UI 触控</a:t>
            </a:r>
          </a:p>
          <a:p>
            <a:pPr algn="ctr"/>
            <a:r>
              <a:rPr sz="900" b="0">
                <a:solidFill>
                  <a:srgbClr val="1F2937"/>
                </a:solidFill>
                <a:latin typeface="Microsoft YaHei"/>
                <a:ea typeface="Microsoft YaHei"/>
              </a:rPr>
              <a:t>(Compose / View)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599" y="1965960"/>
            <a:ext cx="2286000" cy="53035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00" b="1">
                <a:solidFill>
                  <a:srgbClr val="1F2937"/>
                </a:solidFill>
                <a:latin typeface="Microsoft YaHei"/>
                <a:ea typeface="Microsoft YaHei"/>
              </a:rPr>
              <a:t>⌨ 物理按键</a:t>
            </a:r>
          </a:p>
          <a:p>
            <a:pPr algn="ctr"/>
            <a:r>
              <a:rPr sz="900" b="0">
                <a:solidFill>
                  <a:srgbClr val="1F2937"/>
                </a:solidFill>
                <a:latin typeface="Microsoft YaHei"/>
                <a:ea typeface="Microsoft YaHei"/>
              </a:rPr>
              <a:t>(KeyEvent / VHAL)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377440" y="2697480"/>
            <a:ext cx="4206240" cy="38404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00" b="1">
                <a:solidFill>
                  <a:srgbClr val="1F2937"/>
                </a:solidFill>
                <a:latin typeface="Microsoft YaHei"/>
                <a:ea typeface="Microsoft YaHei"/>
              </a:rPr>
              <a:t>意图统一入口  UserRequest(text, source, carContext)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480560" y="2560320"/>
            <a:ext cx="0" cy="137160"/>
          </a:xfrm>
          <a:prstGeom prst="line">
            <a:avLst/>
          </a:prstGeom>
          <a:ln w="19050">
            <a:solidFill>
              <a:srgbClr val="1F3A5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548640" y="3200400"/>
            <a:ext cx="5029200" cy="1554480"/>
          </a:xfrm>
          <a:prstGeom prst="roundRect">
            <a:avLst>
              <a:gd name="adj" fmla="val 4000"/>
            </a:avLst>
          </a:prstGeom>
          <a:solidFill>
            <a:srgbClr val="DCEAFB"/>
          </a:solidFill>
          <a:ln w="12700">
            <a:solidFill>
              <a:srgbClr val="2E6FD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227832"/>
            <a:ext cx="484632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2E6FD6"/>
                </a:solidFill>
                <a:latin typeface="Microsoft YaHei"/>
                <a:ea typeface="Microsoft YaHei"/>
              </a:rPr>
              <a:t>② Agent 层 (ADK Kotlin)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480560" y="3081528"/>
            <a:ext cx="0" cy="118872"/>
          </a:xfrm>
          <a:prstGeom prst="line">
            <a:avLst/>
          </a:prstGeom>
          <a:ln w="19050">
            <a:solidFill>
              <a:srgbClr val="1F3A5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85800" y="3520440"/>
            <a:ext cx="1536192" cy="53035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E6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00" b="1">
                <a:solidFill>
                  <a:srgbClr val="1F2937"/>
                </a:solidFill>
                <a:latin typeface="Microsoft YaHei"/>
                <a:ea typeface="Microsoft YaHei"/>
              </a:rPr>
              <a:t>Runner</a:t>
            </a:r>
          </a:p>
          <a:p>
            <a:pPr algn="ctr"/>
            <a:r>
              <a:rPr sz="800" b="0">
                <a:solidFill>
                  <a:srgbClr val="1F2937"/>
                </a:solidFill>
                <a:latin typeface="Microsoft YaHei"/>
                <a:ea typeface="Microsoft YaHei"/>
              </a:rPr>
              <a:t>驱动多轮循环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313432" y="3520440"/>
            <a:ext cx="1536192" cy="53035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E6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00" b="1">
                <a:solidFill>
                  <a:srgbClr val="1F2937"/>
                </a:solidFill>
                <a:latin typeface="Microsoft YaHei"/>
                <a:ea typeface="Microsoft YaHei"/>
              </a:rPr>
              <a:t>Session / Memory</a:t>
            </a:r>
          </a:p>
          <a:p>
            <a:pPr algn="ctr"/>
            <a:r>
              <a:rPr sz="800" b="0">
                <a:solidFill>
                  <a:srgbClr val="1F2937"/>
                </a:solidFill>
                <a:latin typeface="Microsoft YaHei"/>
                <a:ea typeface="Microsoft YaHei"/>
              </a:rPr>
              <a:t>历史 · 偏好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941064" y="3520440"/>
            <a:ext cx="1536192" cy="53035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E6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00" b="1">
                <a:solidFill>
                  <a:srgbClr val="1F2937"/>
                </a:solidFill>
                <a:latin typeface="Microsoft YaHei"/>
                <a:ea typeface="Microsoft YaHei"/>
              </a:rPr>
              <a:t>LlmAgent</a:t>
            </a:r>
          </a:p>
          <a:p>
            <a:pPr algn="ctr"/>
            <a:r>
              <a:rPr sz="800" b="0">
                <a:solidFill>
                  <a:srgbClr val="1F2937"/>
                </a:solidFill>
                <a:latin typeface="Microsoft YaHei"/>
                <a:ea typeface="Microsoft YaHei"/>
              </a:rPr>
              <a:t>Instruction + Tools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" y="4123944"/>
            <a:ext cx="1536192" cy="53035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E6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00" b="1">
                <a:solidFill>
                  <a:srgbClr val="1F2937"/>
                </a:solidFill>
                <a:latin typeface="Microsoft YaHei"/>
                <a:ea typeface="Microsoft YaHei"/>
              </a:rPr>
              <a:t>AIBoxModel : Model</a:t>
            </a:r>
          </a:p>
          <a:p>
            <a:pPr algn="ctr"/>
            <a:r>
              <a:rPr sz="800" b="0">
                <a:solidFill>
                  <a:srgbClr val="1F2937"/>
                </a:solidFill>
                <a:latin typeface="Microsoft YaHei"/>
                <a:ea typeface="Microsoft YaHei"/>
              </a:rPr>
              <a:t>LLM 适配器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313432" y="4123944"/>
            <a:ext cx="1536192" cy="53035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E6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00" b="1">
                <a:solidFill>
                  <a:srgbClr val="1F2937"/>
                </a:solidFill>
                <a:latin typeface="Microsoft YaHei"/>
                <a:ea typeface="Microsoft YaHei"/>
              </a:rPr>
              <a:t>安全策略引擎</a:t>
            </a:r>
          </a:p>
          <a:p>
            <a:pPr algn="ctr"/>
            <a:r>
              <a:rPr sz="800" b="0">
                <a:solidFill>
                  <a:srgbClr val="1F2937"/>
                </a:solidFill>
                <a:latin typeface="Microsoft YaHei"/>
                <a:ea typeface="Microsoft YaHei"/>
              </a:rPr>
              <a:t>白名单·校验·确认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760720" y="3200400"/>
            <a:ext cx="2651760" cy="1554480"/>
          </a:xfrm>
          <a:prstGeom prst="roundRect">
            <a:avLst>
              <a:gd name="adj" fmla="val 4000"/>
            </a:avLst>
          </a:prstGeom>
          <a:solidFill>
            <a:srgbClr val="ECE4F9"/>
          </a:solidFill>
          <a:ln w="12700">
            <a:solidFill>
              <a:srgbClr val="7B4FC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852160" y="3227832"/>
            <a:ext cx="246888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7B4FC9"/>
                </a:solidFill>
                <a:latin typeface="Microsoft YaHei"/>
                <a:ea typeface="Microsoft YaHei"/>
              </a:rPr>
              <a:t>③ AIBox 通信层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897880" y="3520440"/>
            <a:ext cx="2377440" cy="2743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7B4F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900" b="0">
                <a:solidFill>
                  <a:srgbClr val="1F2937"/>
                </a:solidFill>
                <a:latin typeface="Microsoft YaHei"/>
                <a:ea typeface="Microsoft YaHei"/>
              </a:rPr>
              <a:t>设备发现 UsbManager/mDNS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897880" y="3822191"/>
            <a:ext cx="2377440" cy="2743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7B4F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900" b="0">
                <a:solidFill>
                  <a:srgbClr val="1F2937"/>
                </a:solidFill>
                <a:latin typeface="Microsoft YaHei"/>
                <a:ea typeface="Microsoft YaHei"/>
              </a:rPr>
              <a:t>心跳 &amp; 状态机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897880" y="4123944"/>
            <a:ext cx="2377440" cy="2743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7B4F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900" b="0">
                <a:solidFill>
                  <a:srgbClr val="1F2937"/>
                </a:solidFill>
                <a:latin typeface="Microsoft YaHei"/>
                <a:ea typeface="Microsoft YaHei"/>
              </a:rPr>
              <a:t>HTTP/gRPC 客户端 (流式)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897880" y="4425696"/>
            <a:ext cx="2377440" cy="2743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7B4F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900" b="0">
                <a:solidFill>
                  <a:srgbClr val="1F2937"/>
                </a:solidFill>
                <a:latin typeface="Microsoft YaHei"/>
                <a:ea typeface="Microsoft YaHei"/>
              </a:rPr>
              <a:t>降级路由 本地规则/云端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5577840" y="3977639"/>
            <a:ext cx="182880" cy="0"/>
          </a:xfrm>
          <a:prstGeom prst="line">
            <a:avLst/>
          </a:prstGeom>
          <a:ln w="25400">
            <a:solidFill>
              <a:srgbClr val="7B4FC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548640" y="4892040"/>
            <a:ext cx="5029200" cy="685800"/>
          </a:xfrm>
          <a:prstGeom prst="roundRect">
            <a:avLst>
              <a:gd name="adj" fmla="val 4000"/>
            </a:avLst>
          </a:prstGeom>
          <a:solidFill>
            <a:srgbClr val="FFEED9"/>
          </a:solidFill>
          <a:ln w="12700">
            <a:solidFill>
              <a:srgbClr val="F28C2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" y="4919472"/>
            <a:ext cx="484632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F28C28"/>
                </a:solidFill>
                <a:latin typeface="Microsoft YaHei"/>
                <a:ea typeface="Microsoft YaHei"/>
              </a:rPr>
              <a:t>④ Tools 执行层  (权限白名单 + 确认机制)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85800" y="5212080"/>
            <a:ext cx="914400" cy="29260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F28C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900" b="0">
                <a:solidFill>
                  <a:srgbClr val="1F2937"/>
                </a:solidFill>
                <a:latin typeface="Microsoft YaHei"/>
                <a:ea typeface="Microsoft YaHei"/>
              </a:rPr>
              <a:t>车控 CarProperty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664208" y="5212080"/>
            <a:ext cx="914400" cy="29260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F28C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900" b="0">
                <a:solidFill>
                  <a:srgbClr val="1F2937"/>
                </a:solidFill>
                <a:latin typeface="Microsoft YaHei"/>
                <a:ea typeface="Microsoft YaHei"/>
              </a:rPr>
              <a:t>导航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642616" y="5212080"/>
            <a:ext cx="914400" cy="29260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F28C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900" b="0">
                <a:solidFill>
                  <a:srgbClr val="1F2937"/>
                </a:solidFill>
                <a:latin typeface="Microsoft YaHei"/>
                <a:ea typeface="Microsoft YaHei"/>
              </a:rPr>
              <a:t>媒体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621024" y="5212080"/>
            <a:ext cx="914400" cy="29260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F28C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900" b="0">
                <a:solidFill>
                  <a:srgbClr val="1F2937"/>
                </a:solidFill>
                <a:latin typeface="Microsoft YaHei"/>
                <a:ea typeface="Microsoft YaHei"/>
              </a:rPr>
              <a:t>电话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599432" y="5212080"/>
            <a:ext cx="914400" cy="29260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F28C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900" b="0">
                <a:solidFill>
                  <a:srgbClr val="1F2937"/>
                </a:solidFill>
                <a:latin typeface="Microsoft YaHei"/>
                <a:ea typeface="Microsoft YaHei"/>
              </a:rPr>
              <a:t>系统设置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3063240" y="4754880"/>
            <a:ext cx="0" cy="137160"/>
          </a:xfrm>
          <a:prstGeom prst="line">
            <a:avLst/>
          </a:prstGeom>
          <a:ln w="19050">
            <a:solidFill>
              <a:srgbClr val="F28C2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548640" y="5669280"/>
            <a:ext cx="5029200" cy="640080"/>
          </a:xfrm>
          <a:prstGeom prst="roundRect">
            <a:avLst>
              <a:gd name="adj" fmla="val 4000"/>
            </a:avLst>
          </a:prstGeom>
          <a:solidFill>
            <a:srgbClr val="DFF3E8"/>
          </a:solidFill>
          <a:ln w="12700">
            <a:solidFill>
              <a:srgbClr val="2E9E6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0080" y="5696712"/>
            <a:ext cx="484632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2E9E6B"/>
                </a:solidFill>
                <a:latin typeface="Microsoft YaHei"/>
                <a:ea typeface="Microsoft YaHei"/>
              </a:rPr>
              <a:t>⑤ 输出层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85800" y="5961888"/>
            <a:ext cx="1536192" cy="29260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E9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900" b="0">
                <a:solidFill>
                  <a:srgbClr val="1F2937"/>
                </a:solidFill>
                <a:latin typeface="Microsoft YaHei"/>
                <a:ea typeface="Microsoft YaHei"/>
              </a:rPr>
              <a:t>♫ TTS 播报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2313432" y="5961888"/>
            <a:ext cx="1536192" cy="29260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E9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900" b="0">
                <a:solidFill>
                  <a:srgbClr val="1F2937"/>
                </a:solidFill>
                <a:latin typeface="Microsoft YaHei"/>
                <a:ea typeface="Microsoft YaHei"/>
              </a:rPr>
              <a:t>▣ UI 渲染 / 卡片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941064" y="5961888"/>
            <a:ext cx="1536192" cy="29260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E9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900" b="0">
                <a:solidFill>
                  <a:srgbClr val="1F2937"/>
                </a:solidFill>
                <a:latin typeface="Microsoft YaHei"/>
                <a:ea typeface="Microsoft YaHei"/>
              </a:rPr>
              <a:t>车控执行反馈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3063240" y="5577840"/>
            <a:ext cx="0" cy="91440"/>
          </a:xfrm>
          <a:prstGeom prst="line">
            <a:avLst/>
          </a:prstGeom>
          <a:ln w="19050">
            <a:solidFill>
              <a:srgbClr val="2E9E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ounded Rectangle 45"/>
          <p:cNvSpPr/>
          <p:nvPr/>
        </p:nvSpPr>
        <p:spPr>
          <a:xfrm>
            <a:off x="9144000" y="2743200"/>
            <a:ext cx="2743200" cy="2468880"/>
          </a:xfrm>
          <a:prstGeom prst="roundRect">
            <a:avLst>
              <a:gd name="adj" fmla="val 4000"/>
            </a:avLst>
          </a:prstGeom>
          <a:solidFill>
            <a:srgbClr val="ECE4F9"/>
          </a:solidFill>
          <a:ln w="12700">
            <a:solidFill>
              <a:srgbClr val="7B4FC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235440" y="2770632"/>
            <a:ext cx="256032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7B4FC9"/>
                </a:solidFill>
                <a:latin typeface="Microsoft YaHei"/>
                <a:ea typeface="Microsoft YaHei"/>
              </a:rPr>
              <a:t>📦 AIBox (可插拔)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281160" y="3108960"/>
            <a:ext cx="2468880" cy="5486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7B4F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00" b="1">
                <a:solidFill>
                  <a:srgbClr val="1F2937"/>
                </a:solidFill>
                <a:latin typeface="Microsoft YaHei"/>
                <a:ea typeface="Microsoft YaHei"/>
              </a:rPr>
              <a:t>推理服务</a:t>
            </a:r>
          </a:p>
          <a:p>
            <a:pPr algn="ctr"/>
            <a:r>
              <a:rPr sz="800" b="0">
                <a:solidFill>
                  <a:srgbClr val="1F2937"/>
                </a:solidFill>
                <a:latin typeface="Microsoft YaHei"/>
                <a:ea typeface="Microsoft YaHei"/>
              </a:rPr>
              <a:t>/v1/chat/completions (OpenAI 兼容)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9281160" y="3749039"/>
            <a:ext cx="2468880" cy="5486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7B4F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00" b="1">
                <a:solidFill>
                  <a:srgbClr val="1F2937"/>
                </a:solidFill>
                <a:latin typeface="Microsoft YaHei"/>
                <a:ea typeface="Microsoft YaHei"/>
              </a:rPr>
              <a:t>本地大模型</a:t>
            </a:r>
          </a:p>
          <a:p>
            <a:pPr algn="ctr"/>
            <a:r>
              <a:rPr sz="800" b="0">
                <a:solidFill>
                  <a:srgbClr val="1F2937"/>
                </a:solidFill>
                <a:latin typeface="Microsoft YaHei"/>
                <a:ea typeface="Microsoft YaHei"/>
              </a:rPr>
              <a:t>支持 function calling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9281160" y="4389120"/>
            <a:ext cx="2468880" cy="5486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7B4F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00" b="1">
                <a:solidFill>
                  <a:srgbClr val="1F2937"/>
                </a:solidFill>
                <a:latin typeface="Microsoft YaHei"/>
                <a:ea typeface="Microsoft YaHei"/>
              </a:rPr>
              <a:t>可选</a:t>
            </a:r>
          </a:p>
          <a:p>
            <a:pPr algn="ctr"/>
            <a:r>
              <a:rPr sz="800" b="0">
                <a:solidFill>
                  <a:srgbClr val="1F2937"/>
                </a:solidFill>
                <a:latin typeface="Microsoft YaHei"/>
                <a:ea typeface="Microsoft YaHei"/>
              </a:rPr>
              <a:t>ASR / TTS / RAG 向量库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8595360" y="3977639"/>
            <a:ext cx="548640" cy="0"/>
          </a:xfrm>
          <a:prstGeom prst="line">
            <a:avLst/>
          </a:prstGeom>
          <a:ln w="31750">
            <a:solidFill>
              <a:srgbClr val="7B4FC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H="1">
            <a:off x="8595360" y="4160520"/>
            <a:ext cx="548640" cy="0"/>
          </a:xfrm>
          <a:prstGeom prst="line">
            <a:avLst/>
          </a:prstGeom>
          <a:ln w="31750">
            <a:solidFill>
              <a:srgbClr val="7B4FC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8595360" y="3520440"/>
            <a:ext cx="54864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800" b="0">
                <a:solidFill>
                  <a:srgbClr val="7B4FC9"/>
                </a:solidFill>
                <a:latin typeface="Microsoft YaHei"/>
                <a:ea typeface="Microsoft YaHei"/>
              </a:rPr>
              <a:t>USB / Ethernet / Wi-Fi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144000" y="5394960"/>
            <a:ext cx="2743200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1F3A5F"/>
                </a:solidFill>
                <a:latin typeface="Microsoft YaHei"/>
                <a:ea typeface="Microsoft YaHei"/>
              </a:rPr>
              <a:t>💡 AIBox 是无状态推理引擎</a:t>
            </a:r>
          </a:p>
          <a:p>
            <a:pPr algn="l">
              <a:lnSpc>
                <a:spcPct val="110000"/>
              </a:lnSpc>
            </a:pPr>
            <a:r>
              <a:rPr sz="1100" b="0">
                <a:solidFill>
                  <a:srgbClr val="1F3A5F"/>
                </a:solidFill>
                <a:latin typeface="Microsoft YaHei"/>
                <a:ea typeface="Microsoft YaHei"/>
              </a:rPr>
              <a:t>决策循环与 Tool 执行权</a:t>
            </a:r>
          </a:p>
          <a:p>
            <a:pPr algn="l">
              <a:lnSpc>
                <a:spcPct val="110000"/>
              </a:lnSpc>
            </a:pPr>
            <a:r>
              <a:rPr sz="1100" b="0">
                <a:solidFill>
                  <a:srgbClr val="1F3A5F"/>
                </a:solidFill>
                <a:latin typeface="Microsoft YaHei"/>
                <a:ea typeface="Microsoft YaHei"/>
              </a:rPr>
              <a:t>全部在车机 Agent 侧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914400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FFFFFF"/>
                </a:solidFill>
                <a:latin typeface="Microsoft YaHei"/>
                <a:ea typeface="Microsoft YaHei"/>
              </a:rPr>
              <a:t>2.2 部署视图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6B7280"/>
                </a:solidFill>
                <a:latin typeface="Microsoft YaHei"/>
                <a:ea typeface="Microsoft YaHei"/>
              </a:rPr>
              <a:t>车机 SoC 运行 Agent App；AIBox 运行推理服务；云端 LLM 为可选降级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6B7280"/>
                </a:solidFill>
                <a:latin typeface="Microsoft YaHei"/>
                <a:ea typeface="Microsoft YaHei"/>
              </a:rPr>
              <a:t>Android 车机 AI 集成架构方案 · ADK Kotlin + 可插拔 AIBox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92240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6B7280"/>
                </a:solidFill>
                <a:latin typeface="Microsoft YaHei"/>
                <a:ea typeface="Microsoft YaHei"/>
              </a:rPr>
              <a:t>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28800"/>
            <a:ext cx="4023360" cy="3291840"/>
          </a:xfrm>
          <a:prstGeom prst="roundRect">
            <a:avLst>
              <a:gd name="adj" fmla="val 4000"/>
            </a:avLst>
          </a:prstGeom>
          <a:solidFill>
            <a:srgbClr val="DCEAFB"/>
          </a:solidFill>
          <a:ln w="12700">
            <a:solidFill>
              <a:srgbClr val="2E6FD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856232"/>
            <a:ext cx="384048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2E6FD6"/>
                </a:solidFill>
                <a:latin typeface="Microsoft YaHei"/>
                <a:ea typeface="Microsoft YaHei"/>
              </a:rPr>
              <a:t>车机 SoC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05840" y="2286000"/>
            <a:ext cx="3474720" cy="7315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E6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1F2937"/>
                </a:solidFill>
                <a:latin typeface="Microsoft YaHei"/>
                <a:ea typeface="Microsoft YaHei"/>
              </a:rPr>
              <a:t>Agent App</a:t>
            </a:r>
          </a:p>
          <a:p>
            <a:pPr algn="ctr"/>
            <a:r>
              <a:rPr sz="1100" b="0">
                <a:solidFill>
                  <a:srgbClr val="1F2937"/>
                </a:solidFill>
                <a:latin typeface="Microsoft YaHei"/>
                <a:ea typeface="Microsoft YaHei"/>
              </a:rPr>
              <a:t>(ADK Kotlin)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05840" y="3291840"/>
            <a:ext cx="1600200" cy="7315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E6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00" b="1">
                <a:solidFill>
                  <a:srgbClr val="1F2937"/>
                </a:solidFill>
                <a:latin typeface="Microsoft YaHei"/>
                <a:ea typeface="Microsoft YaHei"/>
              </a:rPr>
              <a:t>Car Service</a:t>
            </a:r>
          </a:p>
          <a:p>
            <a:pPr algn="ctr"/>
            <a:r>
              <a:rPr sz="900" b="0">
                <a:solidFill>
                  <a:srgbClr val="1F2937"/>
                </a:solidFill>
                <a:latin typeface="Microsoft YaHei"/>
                <a:ea typeface="Microsoft YaHei"/>
              </a:rPr>
              <a:t>(VHAL)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80360" y="3291840"/>
            <a:ext cx="1600200" cy="7315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E6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00" b="1">
                <a:solidFill>
                  <a:srgbClr val="1F2937"/>
                </a:solidFill>
                <a:latin typeface="Microsoft YaHei"/>
                <a:ea typeface="Microsoft YaHei"/>
              </a:rPr>
              <a:t>Audio HAL</a:t>
            </a:r>
          </a:p>
          <a:p>
            <a:pPr algn="ctr"/>
            <a:r>
              <a:rPr sz="900" b="0">
                <a:solidFill>
                  <a:srgbClr val="1F2937"/>
                </a:solidFill>
                <a:latin typeface="Microsoft YaHei"/>
                <a:ea typeface="Microsoft YaHei"/>
              </a:rPr>
              <a:t>(Mic / Speaker)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783080" y="3017520"/>
            <a:ext cx="0" cy="274320"/>
          </a:xfrm>
          <a:prstGeom prst="line">
            <a:avLst/>
          </a:prstGeom>
          <a:ln w="19050">
            <a:solidFill>
              <a:srgbClr val="2E6F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3657600" y="3017520"/>
            <a:ext cx="0" cy="274320"/>
          </a:xfrm>
          <a:prstGeom prst="line">
            <a:avLst/>
          </a:prstGeom>
          <a:ln w="19050">
            <a:solidFill>
              <a:srgbClr val="2E6F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1005840" y="4206240"/>
            <a:ext cx="347472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1F3A5F"/>
                </a:solidFill>
                <a:latin typeface="Microsoft YaHei"/>
                <a:ea typeface="Microsoft YaHei"/>
              </a:rPr>
              <a:t>• 输入归一化 / Session / Tools</a:t>
            </a:r>
          </a:p>
          <a:p>
            <a:pPr algn="l">
              <a:lnSpc>
                <a:spcPct val="110000"/>
              </a:lnSpc>
            </a:pPr>
            <a:r>
              <a:rPr sz="1100" b="0">
                <a:solidFill>
                  <a:srgbClr val="1F3A5F"/>
                </a:solidFill>
                <a:latin typeface="Microsoft YaHei"/>
                <a:ea typeface="Microsoft YaHei"/>
              </a:rPr>
              <a:t>• 安全策略 / 降级路由</a:t>
            </a:r>
          </a:p>
          <a:p>
            <a:pPr algn="l">
              <a:lnSpc>
                <a:spcPct val="110000"/>
              </a:lnSpc>
            </a:pPr>
            <a:r>
              <a:rPr sz="1100" b="0">
                <a:solidFill>
                  <a:srgbClr val="1F3A5F"/>
                </a:solidFill>
                <a:latin typeface="Microsoft YaHei"/>
                <a:ea typeface="Microsoft YaHei"/>
              </a:rPr>
              <a:t>• 不承担模型推理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06640" y="1828800"/>
            <a:ext cx="4023360" cy="3291840"/>
          </a:xfrm>
          <a:prstGeom prst="roundRect">
            <a:avLst>
              <a:gd name="adj" fmla="val 4000"/>
            </a:avLst>
          </a:prstGeom>
          <a:solidFill>
            <a:srgbClr val="ECE4F9"/>
          </a:solidFill>
          <a:ln w="12700">
            <a:solidFill>
              <a:srgbClr val="7B4FC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80" y="1856232"/>
            <a:ext cx="384048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7B4FC9"/>
                </a:solidFill>
                <a:latin typeface="Microsoft YaHei"/>
                <a:ea typeface="Microsoft YaHei"/>
              </a:rPr>
              <a:t>AIBox (NPU / GPU 盒子)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680960" y="2286000"/>
            <a:ext cx="3474720" cy="7315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7B4F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1F2937"/>
                </a:solidFill>
                <a:latin typeface="Microsoft YaHei"/>
                <a:ea typeface="Microsoft YaHei"/>
              </a:rPr>
              <a:t>推理服务</a:t>
            </a:r>
          </a:p>
          <a:p>
            <a:pPr algn="ctr"/>
            <a:r>
              <a:rPr sz="1100" b="0">
                <a:solidFill>
                  <a:srgbClr val="1F2937"/>
                </a:solidFill>
                <a:latin typeface="Microsoft YaHei"/>
                <a:ea typeface="Microsoft YaHei"/>
              </a:rPr>
              <a:t>llama.cpp / vLLM / 厂商 SDK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680960" y="3291840"/>
            <a:ext cx="3474720" cy="7315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7B4F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00" b="1">
                <a:solidFill>
                  <a:srgbClr val="1F2937"/>
                </a:solidFill>
                <a:latin typeface="Microsoft YaHei"/>
                <a:ea typeface="Microsoft YaHei"/>
              </a:rPr>
              <a:t>模型权重</a:t>
            </a:r>
          </a:p>
          <a:p>
            <a:pPr algn="ctr"/>
            <a:r>
              <a:rPr sz="900" b="0">
                <a:solidFill>
                  <a:srgbClr val="1F2937"/>
                </a:solidFill>
                <a:latin typeface="Microsoft YaHei"/>
                <a:ea typeface="Microsoft YaHei"/>
              </a:rPr>
              <a:t>7B ~ 14B 量化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9418320" y="3017520"/>
            <a:ext cx="0" cy="274320"/>
          </a:xfrm>
          <a:prstGeom prst="line">
            <a:avLst/>
          </a:prstGeom>
          <a:ln w="19050">
            <a:solidFill>
              <a:srgbClr val="7B4F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7680960" y="4206240"/>
            <a:ext cx="347472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7B4FC9"/>
                </a:solidFill>
                <a:latin typeface="Microsoft YaHei"/>
                <a:ea typeface="Microsoft YaHei"/>
              </a:rPr>
              <a:t>• OpenAI 兼容 HTTP + SSE 流式</a:t>
            </a:r>
          </a:p>
          <a:p>
            <a:pPr algn="l">
              <a:lnSpc>
                <a:spcPct val="110000"/>
              </a:lnSpc>
            </a:pPr>
            <a:r>
              <a:rPr sz="1100" b="0">
                <a:solidFill>
                  <a:srgbClr val="7B4FC9"/>
                </a:solidFill>
                <a:latin typeface="Microsoft YaHei"/>
                <a:ea typeface="Microsoft YaHei"/>
              </a:rPr>
              <a:t>• /health 心跳</a:t>
            </a:r>
          </a:p>
          <a:p>
            <a:pPr algn="l">
              <a:lnSpc>
                <a:spcPct val="110000"/>
              </a:lnSpc>
            </a:pPr>
            <a:r>
              <a:rPr sz="1100" b="0">
                <a:solidFill>
                  <a:srgbClr val="7B4FC9"/>
                </a:solidFill>
                <a:latin typeface="Microsoft YaHei"/>
                <a:ea typeface="Microsoft YaHei"/>
              </a:rPr>
              <a:t>• 可选 ASR / TTS / RAG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754880" y="2651760"/>
            <a:ext cx="2651760" cy="0"/>
          </a:xfrm>
          <a:prstGeom prst="line">
            <a:avLst/>
          </a:prstGeom>
          <a:ln w="31750">
            <a:solidFill>
              <a:srgbClr val="1F3A5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4754880" y="2834640"/>
            <a:ext cx="2651760" cy="0"/>
          </a:xfrm>
          <a:prstGeom prst="line">
            <a:avLst/>
          </a:prstGeom>
          <a:ln w="31750">
            <a:solidFill>
              <a:srgbClr val="1F3A5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4937760" y="3017520"/>
            <a:ext cx="2286000" cy="640080"/>
          </a:xfrm>
          <a:prstGeom prst="roundRect">
            <a:avLst/>
          </a:prstGeom>
          <a:solidFill>
            <a:srgbClr val="F3F4F6"/>
          </a:solidFill>
          <a:ln w="1587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00" b="1">
                <a:solidFill>
                  <a:srgbClr val="1F2937"/>
                </a:solidFill>
                <a:latin typeface="Microsoft YaHei"/>
                <a:ea typeface="Microsoft YaHei"/>
              </a:rPr>
              <a:t>USB-C (RNDIS/NCM)</a:t>
            </a:r>
          </a:p>
          <a:p>
            <a:pPr algn="ctr"/>
            <a:r>
              <a:rPr sz="800" b="0">
                <a:solidFill>
                  <a:srgbClr val="1F2937"/>
                </a:solidFill>
                <a:latin typeface="Microsoft YaHei"/>
                <a:ea typeface="Microsoft YaHei"/>
              </a:rPr>
              <a:t>或 车载以太网</a:t>
            </a:r>
          </a:p>
        </p:txBody>
      </p:sp>
      <p:sp>
        <p:nvSpPr>
          <p:cNvPr id="25" name="Cloud 24"/>
          <p:cNvSpPr/>
          <p:nvPr/>
        </p:nvSpPr>
        <p:spPr>
          <a:xfrm>
            <a:off x="4480560" y="5486400"/>
            <a:ext cx="3200400" cy="685800"/>
          </a:xfrm>
          <a:prstGeom prst="cloud">
            <a:avLst/>
          </a:prstGeom>
          <a:solidFill>
            <a:srgbClr val="F3F4F6"/>
          </a:solidFill>
          <a:ln w="1587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>
                <a:solidFill>
                  <a:srgbClr val="1F2937"/>
                </a:solidFill>
                <a:latin typeface="Microsoft YaHei"/>
                <a:ea typeface="Microsoft YaHei"/>
              </a:rPr>
              <a:t>☁ 云端 LLM (可选降级)</a:t>
            </a:r>
          </a:p>
          <a:p>
            <a:pPr algn="ctr"/>
            <a:r>
              <a:rPr sz="1000" b="0">
                <a:solidFill>
                  <a:srgbClr val="1F2937"/>
                </a:solidFill>
                <a:latin typeface="Microsoft YaHei"/>
                <a:ea typeface="Microsoft YaHei"/>
              </a:rPr>
              <a:t>有网络时使用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2743200" y="5120640"/>
            <a:ext cx="2011680" cy="548640"/>
          </a:xfrm>
          <a:prstGeom prst="line">
            <a:avLst/>
          </a:prstGeom>
          <a:ln w="19050">
            <a:solidFill>
              <a:srgbClr val="6B728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914400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FFFFFF"/>
                </a:solidFill>
                <a:latin typeface="Microsoft YaHei"/>
                <a:ea typeface="Microsoft YaHei"/>
              </a:rPr>
              <a:t>3.1 单次请求完整时序（含 Tool 调用循环）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6B7280"/>
                </a:solidFill>
                <a:latin typeface="Microsoft YaHei"/>
                <a:ea typeface="Microsoft YaHei"/>
              </a:rPr>
              <a:t>关键认知：LLM 不会“回调”Agent，它只返回 tool_call JSON；Agent 自己执行后再次请求 LLM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6B7280"/>
                </a:solidFill>
                <a:latin typeface="Microsoft YaHei"/>
                <a:ea typeface="Microsoft YaHei"/>
              </a:rPr>
              <a:t>Android 车机 AI 集成架构方案 · ADK Kotlin + 可插拔 AIBox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92240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6B7280"/>
                </a:solidFill>
                <a:latin typeface="Microsoft YaHei"/>
                <a:ea typeface="Microsoft YaHei"/>
              </a:rPr>
              <a:t>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89356" y="1325880"/>
            <a:ext cx="1188720" cy="5029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00" b="1">
                <a:solidFill>
                  <a:srgbClr val="1F2937"/>
                </a:solidFill>
                <a:latin typeface="Microsoft YaHei"/>
                <a:ea typeface="Microsoft YaHei"/>
              </a:rPr>
              <a:t>用户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083716" y="1828800"/>
            <a:ext cx="0" cy="4526280"/>
          </a:xfrm>
          <a:prstGeom prst="line">
            <a:avLst/>
          </a:prstGeom>
          <a:ln w="12700">
            <a:solidFill>
              <a:srgbClr val="C0C4CC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1742388" y="1325880"/>
            <a:ext cx="1188720" cy="5029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00" b="1">
                <a:solidFill>
                  <a:srgbClr val="1F2937"/>
                </a:solidFill>
                <a:latin typeface="Microsoft YaHei"/>
                <a:ea typeface="Microsoft YaHei"/>
              </a:rPr>
              <a:t>输入层</a:t>
            </a:r>
          </a:p>
          <a:p>
            <a:pPr algn="ctr"/>
            <a:r>
              <a:rPr sz="800" b="0">
                <a:solidFill>
                  <a:srgbClr val="1F2937"/>
                </a:solidFill>
                <a:latin typeface="Microsoft YaHei"/>
                <a:ea typeface="Microsoft YaHei"/>
              </a:rPr>
              <a:t>ASR/UI/按键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336748" y="1828800"/>
            <a:ext cx="0" cy="4526280"/>
          </a:xfrm>
          <a:prstGeom prst="line">
            <a:avLst/>
          </a:prstGeom>
          <a:ln w="12700">
            <a:solidFill>
              <a:srgbClr val="C0C4CC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995420" y="1325880"/>
            <a:ext cx="1188720" cy="5029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E6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00" b="1">
                <a:solidFill>
                  <a:srgbClr val="1F2937"/>
                </a:solidFill>
                <a:latin typeface="Microsoft YaHei"/>
                <a:ea typeface="Microsoft YaHei"/>
              </a:rPr>
              <a:t>ADK Runner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589780" y="1828800"/>
            <a:ext cx="0" cy="4526280"/>
          </a:xfrm>
          <a:prstGeom prst="line">
            <a:avLst/>
          </a:prstGeom>
          <a:ln w="12700">
            <a:solidFill>
              <a:srgbClr val="C0C4CC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4248452" y="1325880"/>
            <a:ext cx="1188720" cy="5029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E6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00" b="1">
                <a:solidFill>
                  <a:srgbClr val="1F2937"/>
                </a:solidFill>
                <a:latin typeface="Microsoft YaHei"/>
                <a:ea typeface="Microsoft YaHei"/>
              </a:rPr>
              <a:t>LlmAgent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842812" y="1828800"/>
            <a:ext cx="0" cy="4526280"/>
          </a:xfrm>
          <a:prstGeom prst="line">
            <a:avLst/>
          </a:prstGeom>
          <a:ln w="12700">
            <a:solidFill>
              <a:srgbClr val="C0C4CC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5501484" y="1325880"/>
            <a:ext cx="1188720" cy="5029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E6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00" b="1">
                <a:solidFill>
                  <a:srgbClr val="1F2937"/>
                </a:solidFill>
                <a:latin typeface="Microsoft YaHei"/>
                <a:ea typeface="Microsoft YaHei"/>
              </a:rPr>
              <a:t>AIBoxModel</a:t>
            </a:r>
          </a:p>
          <a:p>
            <a:pPr algn="ctr"/>
            <a:r>
              <a:rPr sz="800" b="0">
                <a:solidFill>
                  <a:srgbClr val="1F2937"/>
                </a:solidFill>
                <a:latin typeface="Microsoft YaHei"/>
                <a:ea typeface="Microsoft YaHei"/>
              </a:rPr>
              <a:t>(适配器)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095844" y="1828800"/>
            <a:ext cx="0" cy="4526280"/>
          </a:xfrm>
          <a:prstGeom prst="line">
            <a:avLst/>
          </a:prstGeom>
          <a:ln w="12700">
            <a:solidFill>
              <a:srgbClr val="C0C4CC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6754516" y="1325880"/>
            <a:ext cx="1188720" cy="5029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7B4F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00" b="1">
                <a:solidFill>
                  <a:srgbClr val="1F2937"/>
                </a:solidFill>
                <a:latin typeface="Microsoft YaHei"/>
                <a:ea typeface="Microsoft YaHei"/>
              </a:rPr>
              <a:t>AIBox LLM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348876" y="1828800"/>
            <a:ext cx="0" cy="4526280"/>
          </a:xfrm>
          <a:prstGeom prst="line">
            <a:avLst/>
          </a:prstGeom>
          <a:ln w="12700">
            <a:solidFill>
              <a:srgbClr val="C0C4CC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8007548" y="1325880"/>
            <a:ext cx="1188720" cy="5029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F28C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00" b="1">
                <a:solidFill>
                  <a:srgbClr val="1F2937"/>
                </a:solidFill>
                <a:latin typeface="Microsoft YaHei"/>
                <a:ea typeface="Microsoft YaHei"/>
              </a:rPr>
              <a:t>安全策略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601908" y="1828800"/>
            <a:ext cx="0" cy="4526280"/>
          </a:xfrm>
          <a:prstGeom prst="line">
            <a:avLst/>
          </a:prstGeom>
          <a:ln w="12700">
            <a:solidFill>
              <a:srgbClr val="C0C4CC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9260580" y="1325880"/>
            <a:ext cx="1188720" cy="5029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F28C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00" b="1">
                <a:solidFill>
                  <a:srgbClr val="1F2937"/>
                </a:solidFill>
                <a:latin typeface="Microsoft YaHei"/>
                <a:ea typeface="Microsoft YaHei"/>
              </a:rPr>
              <a:t>Tool</a:t>
            </a:r>
          </a:p>
          <a:p>
            <a:pPr algn="ctr"/>
            <a:r>
              <a:rPr sz="800" b="0">
                <a:solidFill>
                  <a:srgbClr val="1F2937"/>
                </a:solidFill>
                <a:latin typeface="Microsoft YaHei"/>
                <a:ea typeface="Microsoft YaHei"/>
              </a:rPr>
              <a:t>CarProperty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9854940" y="1828800"/>
            <a:ext cx="0" cy="4526280"/>
          </a:xfrm>
          <a:prstGeom prst="line">
            <a:avLst/>
          </a:prstGeom>
          <a:ln w="12700">
            <a:solidFill>
              <a:srgbClr val="C0C4CC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10513612" y="1325880"/>
            <a:ext cx="1188720" cy="5029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E9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00" b="1">
                <a:solidFill>
                  <a:srgbClr val="1F2937"/>
                </a:solidFill>
                <a:latin typeface="Microsoft YaHei"/>
                <a:ea typeface="Microsoft YaHei"/>
              </a:rPr>
              <a:t>输出层</a:t>
            </a:r>
          </a:p>
          <a:p>
            <a:pPr algn="ctr"/>
            <a:r>
              <a:rPr sz="800" b="0">
                <a:solidFill>
                  <a:srgbClr val="1F2937"/>
                </a:solidFill>
                <a:latin typeface="Microsoft YaHei"/>
                <a:ea typeface="Microsoft YaHei"/>
              </a:rPr>
              <a:t>TTS/UI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11107972" y="1828800"/>
            <a:ext cx="0" cy="4526280"/>
          </a:xfrm>
          <a:prstGeom prst="line">
            <a:avLst/>
          </a:prstGeom>
          <a:ln w="12700">
            <a:solidFill>
              <a:srgbClr val="C0C4CC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2858260" y="2660904"/>
            <a:ext cx="7728200" cy="996696"/>
          </a:xfrm>
          <a:prstGeom prst="rect">
            <a:avLst/>
          </a:prstGeom>
          <a:solidFill>
            <a:srgbClr val="DCE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632180" y="2660904"/>
            <a:ext cx="146304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1">
                <a:solidFill>
                  <a:srgbClr val="2E6FD6"/>
                </a:solidFill>
                <a:latin typeface="Microsoft YaHei"/>
                <a:ea typeface="Microsoft YaHei"/>
              </a:rPr>
              <a:t>第 1 轮 LLM 调用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858260" y="3611880"/>
            <a:ext cx="7728200" cy="996696"/>
          </a:xfrm>
          <a:prstGeom prst="rect">
            <a:avLst/>
          </a:prstGeom>
          <a:solidFill>
            <a:srgbClr val="FFEE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632180" y="3611880"/>
            <a:ext cx="146304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1">
                <a:solidFill>
                  <a:srgbClr val="F28C28"/>
                </a:solidFill>
                <a:latin typeface="Microsoft YaHei"/>
                <a:ea typeface="Microsoft YaHei"/>
              </a:rPr>
              <a:t>Agent 本地执行 Tool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858260" y="4562856"/>
            <a:ext cx="7728200" cy="996696"/>
          </a:xfrm>
          <a:prstGeom prst="rect">
            <a:avLst/>
          </a:prstGeom>
          <a:solidFill>
            <a:srgbClr val="DCE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632180" y="4562856"/>
            <a:ext cx="146304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1">
                <a:solidFill>
                  <a:srgbClr val="2E6FD6"/>
                </a:solidFill>
                <a:latin typeface="Microsoft YaHei"/>
                <a:ea typeface="Microsoft YaHei"/>
              </a:rPr>
              <a:t>第 2 轮 LLM 调用（回填工具结果）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1083716" y="2057400"/>
            <a:ext cx="1253032" cy="0"/>
          </a:xfrm>
          <a:prstGeom prst="line">
            <a:avLst/>
          </a:prstGeom>
          <a:ln w="19050">
            <a:solidFill>
              <a:srgbClr val="1F3A5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521512" y="1856232"/>
            <a:ext cx="2377440" cy="201168"/>
          </a:xfrm>
          <a:prstGeom prst="rect">
            <a:avLst/>
          </a:prstGeom>
          <a:noFill/>
        </p:spPr>
        <p:txBody>
          <a:bodyPr wrap="none" anchor="t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800" b="0">
                <a:solidFill>
                  <a:srgbClr val="1F2937"/>
                </a:solidFill>
                <a:latin typeface="Microsoft YaHei"/>
                <a:ea typeface="Microsoft YaHei"/>
              </a:rPr>
              <a:t>1. “有点热，空调调到22度”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2336748" y="2295144"/>
            <a:ext cx="1253032" cy="0"/>
          </a:xfrm>
          <a:prstGeom prst="line">
            <a:avLst/>
          </a:prstGeom>
          <a:ln w="19050">
            <a:solidFill>
              <a:srgbClr val="1F3A5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1774544" y="2093976"/>
            <a:ext cx="2377440" cy="201168"/>
          </a:xfrm>
          <a:prstGeom prst="rect">
            <a:avLst/>
          </a:prstGeom>
          <a:noFill/>
        </p:spPr>
        <p:txBody>
          <a:bodyPr wrap="none" anchor="t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800" b="0">
                <a:solidFill>
                  <a:srgbClr val="1F2937"/>
                </a:solidFill>
                <a:latin typeface="Microsoft YaHei"/>
                <a:ea typeface="Microsoft YaHei"/>
              </a:rPr>
              <a:t>2. UserRequest(text, 车况)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3589780" y="2532888"/>
            <a:ext cx="1253032" cy="0"/>
          </a:xfrm>
          <a:prstGeom prst="line">
            <a:avLst/>
          </a:prstGeom>
          <a:ln w="19050">
            <a:solidFill>
              <a:srgbClr val="1F3A5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3027576" y="2331720"/>
            <a:ext cx="2377440" cy="201168"/>
          </a:xfrm>
          <a:prstGeom prst="rect">
            <a:avLst/>
          </a:prstGeom>
          <a:noFill/>
        </p:spPr>
        <p:txBody>
          <a:bodyPr wrap="none" anchor="t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800" b="0">
                <a:solidFill>
                  <a:srgbClr val="1F2937"/>
                </a:solidFill>
                <a:latin typeface="Microsoft YaHei"/>
                <a:ea typeface="Microsoft YaHei"/>
              </a:rPr>
              <a:t>3. 组装 prompt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4842812" y="2770632"/>
            <a:ext cx="1253032" cy="0"/>
          </a:xfrm>
          <a:prstGeom prst="line">
            <a:avLst/>
          </a:prstGeom>
          <a:ln w="19050">
            <a:solidFill>
              <a:srgbClr val="7B4FC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4280608" y="2569464"/>
            <a:ext cx="2377440" cy="201168"/>
          </a:xfrm>
          <a:prstGeom prst="rect">
            <a:avLst/>
          </a:prstGeom>
          <a:noFill/>
        </p:spPr>
        <p:txBody>
          <a:bodyPr wrap="none" anchor="t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800" b="0">
                <a:solidFill>
                  <a:srgbClr val="1F2937"/>
                </a:solidFill>
                <a:latin typeface="Microsoft YaHei"/>
                <a:ea typeface="Microsoft YaHei"/>
              </a:rPr>
              <a:t>4. generateContent()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6095844" y="3008376"/>
            <a:ext cx="1253032" cy="0"/>
          </a:xfrm>
          <a:prstGeom prst="line">
            <a:avLst/>
          </a:prstGeom>
          <a:ln w="19050">
            <a:solidFill>
              <a:srgbClr val="7B4FC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5533640" y="2807208"/>
            <a:ext cx="2377440" cy="201168"/>
          </a:xfrm>
          <a:prstGeom prst="rect">
            <a:avLst/>
          </a:prstGeom>
          <a:noFill/>
        </p:spPr>
        <p:txBody>
          <a:bodyPr wrap="none" anchor="t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800" b="0">
                <a:solidFill>
                  <a:srgbClr val="1F2937"/>
                </a:solidFill>
                <a:latin typeface="Microsoft YaHei"/>
                <a:ea typeface="Microsoft YaHei"/>
              </a:rPr>
              <a:t>5. POST /v1/chat/completions</a:t>
            </a:r>
          </a:p>
        </p:txBody>
      </p:sp>
      <p:cxnSp>
        <p:nvCxnSpPr>
          <p:cNvPr id="42" name="Connector 41"/>
          <p:cNvCxnSpPr/>
          <p:nvPr/>
        </p:nvCxnSpPr>
        <p:spPr>
          <a:xfrm flipH="1">
            <a:off x="6095844" y="3246120"/>
            <a:ext cx="1253032" cy="0"/>
          </a:xfrm>
          <a:prstGeom prst="line">
            <a:avLst/>
          </a:prstGeom>
          <a:ln w="19050">
            <a:solidFill>
              <a:srgbClr val="7B4FC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5533640" y="3044952"/>
            <a:ext cx="2377440" cy="201168"/>
          </a:xfrm>
          <a:prstGeom prst="rect">
            <a:avLst/>
          </a:prstGeom>
          <a:noFill/>
        </p:spPr>
        <p:txBody>
          <a:bodyPr wrap="none" anchor="t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800" b="0">
                <a:solidFill>
                  <a:srgbClr val="1F2937"/>
                </a:solidFill>
                <a:latin typeface="Microsoft YaHei"/>
                <a:ea typeface="Microsoft YaHei"/>
              </a:rPr>
              <a:t>6. tool_call: setAcTemp(22)</a:t>
            </a:r>
          </a:p>
        </p:txBody>
      </p:sp>
      <p:cxnSp>
        <p:nvCxnSpPr>
          <p:cNvPr id="44" name="Connector 43"/>
          <p:cNvCxnSpPr/>
          <p:nvPr/>
        </p:nvCxnSpPr>
        <p:spPr>
          <a:xfrm flipH="1">
            <a:off x="4842812" y="3483864"/>
            <a:ext cx="1253032" cy="0"/>
          </a:xfrm>
          <a:prstGeom prst="line">
            <a:avLst/>
          </a:prstGeom>
          <a:ln w="19050">
            <a:solidFill>
              <a:srgbClr val="7B4FC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4280608" y="3282696"/>
            <a:ext cx="2377440" cy="201168"/>
          </a:xfrm>
          <a:prstGeom prst="rect">
            <a:avLst/>
          </a:prstGeom>
          <a:noFill/>
        </p:spPr>
        <p:txBody>
          <a:bodyPr wrap="none" anchor="t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800" b="0">
                <a:solidFill>
                  <a:srgbClr val="1F2937"/>
                </a:solidFill>
                <a:latin typeface="Microsoft YaHei"/>
                <a:ea typeface="Microsoft YaHei"/>
              </a:rPr>
              <a:t>7. LlmResponse(functionCall)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4842812" y="3721608"/>
            <a:ext cx="3759096" cy="0"/>
          </a:xfrm>
          <a:prstGeom prst="line">
            <a:avLst/>
          </a:prstGeom>
          <a:ln w="19050">
            <a:solidFill>
              <a:srgbClr val="F28C2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4842812" y="3520440"/>
            <a:ext cx="3759096" cy="201168"/>
          </a:xfrm>
          <a:prstGeom prst="rect">
            <a:avLst/>
          </a:prstGeom>
          <a:noFill/>
        </p:spPr>
        <p:txBody>
          <a:bodyPr wrap="none" anchor="t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800" b="0">
                <a:solidFill>
                  <a:srgbClr val="1F2937"/>
                </a:solidFill>
                <a:latin typeface="Microsoft YaHei"/>
                <a:ea typeface="Microsoft YaHei"/>
              </a:rPr>
              <a:t>8. 校验：白名单? 范围16~30? 需确认?</a:t>
            </a:r>
          </a:p>
        </p:txBody>
      </p:sp>
      <p:cxnSp>
        <p:nvCxnSpPr>
          <p:cNvPr id="48" name="Connector 47"/>
          <p:cNvCxnSpPr/>
          <p:nvPr/>
        </p:nvCxnSpPr>
        <p:spPr>
          <a:xfrm flipH="1">
            <a:off x="4842812" y="3959352"/>
            <a:ext cx="3759096" cy="0"/>
          </a:xfrm>
          <a:prstGeom prst="line">
            <a:avLst/>
          </a:prstGeom>
          <a:ln w="19050">
            <a:solidFill>
              <a:srgbClr val="F28C2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4842812" y="3758184"/>
            <a:ext cx="3759096" cy="201168"/>
          </a:xfrm>
          <a:prstGeom prst="rect">
            <a:avLst/>
          </a:prstGeom>
          <a:noFill/>
        </p:spPr>
        <p:txBody>
          <a:bodyPr wrap="none" anchor="t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800" b="0">
                <a:solidFill>
                  <a:srgbClr val="1F2937"/>
                </a:solidFill>
                <a:latin typeface="Microsoft YaHei"/>
                <a:ea typeface="Microsoft YaHei"/>
              </a:rPr>
              <a:t>9. ✔ 允许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4842812" y="4197096"/>
            <a:ext cx="5012128" cy="0"/>
          </a:xfrm>
          <a:prstGeom prst="line">
            <a:avLst/>
          </a:prstGeom>
          <a:ln w="19050">
            <a:solidFill>
              <a:srgbClr val="F28C2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4842812" y="3995928"/>
            <a:ext cx="5012128" cy="201168"/>
          </a:xfrm>
          <a:prstGeom prst="rect">
            <a:avLst/>
          </a:prstGeom>
          <a:noFill/>
        </p:spPr>
        <p:txBody>
          <a:bodyPr wrap="none" anchor="t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800" b="0">
                <a:solidFill>
                  <a:srgbClr val="1F2937"/>
                </a:solidFill>
                <a:latin typeface="Microsoft YaHei"/>
                <a:ea typeface="Microsoft YaHei"/>
              </a:rPr>
              <a:t>10. setAcTemperature(22, driver)</a:t>
            </a:r>
          </a:p>
        </p:txBody>
      </p:sp>
      <p:cxnSp>
        <p:nvCxnSpPr>
          <p:cNvPr id="52" name="Connector 51"/>
          <p:cNvCxnSpPr/>
          <p:nvPr/>
        </p:nvCxnSpPr>
        <p:spPr>
          <a:xfrm flipH="1">
            <a:off x="4842812" y="4434840"/>
            <a:ext cx="5012128" cy="0"/>
          </a:xfrm>
          <a:prstGeom prst="line">
            <a:avLst/>
          </a:prstGeom>
          <a:ln w="19050">
            <a:solidFill>
              <a:srgbClr val="F28C2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4842812" y="4233672"/>
            <a:ext cx="5012128" cy="201168"/>
          </a:xfrm>
          <a:prstGeom prst="rect">
            <a:avLst/>
          </a:prstGeom>
          <a:noFill/>
        </p:spPr>
        <p:txBody>
          <a:bodyPr wrap="none" anchor="t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800" b="0">
                <a:solidFill>
                  <a:srgbClr val="1F2937"/>
                </a:solidFill>
                <a:latin typeface="Microsoft YaHei"/>
                <a:ea typeface="Microsoft YaHei"/>
              </a:rPr>
              <a:t>11. {ok:true, current:22}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4842812" y="4672584"/>
            <a:ext cx="1253032" cy="0"/>
          </a:xfrm>
          <a:prstGeom prst="line">
            <a:avLst/>
          </a:prstGeom>
          <a:ln w="19050">
            <a:solidFill>
              <a:srgbClr val="7B4FC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4280608" y="4471416"/>
            <a:ext cx="2377440" cy="201168"/>
          </a:xfrm>
          <a:prstGeom prst="rect">
            <a:avLst/>
          </a:prstGeom>
          <a:noFill/>
        </p:spPr>
        <p:txBody>
          <a:bodyPr wrap="none" anchor="t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800" b="0">
                <a:solidFill>
                  <a:srgbClr val="1F2937"/>
                </a:solidFill>
                <a:latin typeface="Microsoft YaHei"/>
                <a:ea typeface="Microsoft YaHei"/>
              </a:rPr>
              <a:t>12. generateContent(+result)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6095844" y="4910328"/>
            <a:ext cx="1253032" cy="0"/>
          </a:xfrm>
          <a:prstGeom prst="line">
            <a:avLst/>
          </a:prstGeom>
          <a:ln w="19050">
            <a:solidFill>
              <a:srgbClr val="7B4FC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5533640" y="4709160"/>
            <a:ext cx="2377440" cy="201168"/>
          </a:xfrm>
          <a:prstGeom prst="rect">
            <a:avLst/>
          </a:prstGeom>
          <a:noFill/>
        </p:spPr>
        <p:txBody>
          <a:bodyPr wrap="none" anchor="t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800" b="0">
                <a:solidFill>
                  <a:srgbClr val="1F2937"/>
                </a:solidFill>
                <a:latin typeface="Microsoft YaHei"/>
                <a:ea typeface="Microsoft YaHei"/>
              </a:rPr>
              <a:t>13. POST … (stream)</a:t>
            </a:r>
          </a:p>
        </p:txBody>
      </p:sp>
      <p:cxnSp>
        <p:nvCxnSpPr>
          <p:cNvPr id="58" name="Connector 57"/>
          <p:cNvCxnSpPr/>
          <p:nvPr/>
        </p:nvCxnSpPr>
        <p:spPr>
          <a:xfrm flipH="1">
            <a:off x="6095844" y="5148072"/>
            <a:ext cx="1253032" cy="0"/>
          </a:xfrm>
          <a:prstGeom prst="line">
            <a:avLst/>
          </a:prstGeom>
          <a:ln w="19050">
            <a:solidFill>
              <a:srgbClr val="7B4FC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5533640" y="4946904"/>
            <a:ext cx="2377440" cy="201168"/>
          </a:xfrm>
          <a:prstGeom prst="rect">
            <a:avLst/>
          </a:prstGeom>
          <a:noFill/>
        </p:spPr>
        <p:txBody>
          <a:bodyPr wrap="none" anchor="t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800" b="0">
                <a:solidFill>
                  <a:srgbClr val="1F2937"/>
                </a:solidFill>
                <a:latin typeface="Microsoft YaHei"/>
                <a:ea typeface="Microsoft YaHei"/>
              </a:rPr>
              <a:t>14. “已调到22度”(流式)</a:t>
            </a:r>
          </a:p>
        </p:txBody>
      </p:sp>
      <p:cxnSp>
        <p:nvCxnSpPr>
          <p:cNvPr id="60" name="Connector 59"/>
          <p:cNvCxnSpPr/>
          <p:nvPr/>
        </p:nvCxnSpPr>
        <p:spPr>
          <a:xfrm flipH="1">
            <a:off x="4842812" y="5385816"/>
            <a:ext cx="1253032" cy="0"/>
          </a:xfrm>
          <a:prstGeom prst="line">
            <a:avLst/>
          </a:prstGeom>
          <a:ln w="19050">
            <a:solidFill>
              <a:srgbClr val="7B4FC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TextBox 60"/>
          <p:cNvSpPr txBox="1"/>
          <p:nvPr/>
        </p:nvSpPr>
        <p:spPr>
          <a:xfrm>
            <a:off x="4280608" y="5184648"/>
            <a:ext cx="2377440" cy="201168"/>
          </a:xfrm>
          <a:prstGeom prst="rect">
            <a:avLst/>
          </a:prstGeom>
          <a:noFill/>
        </p:spPr>
        <p:txBody>
          <a:bodyPr wrap="none" anchor="t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800" b="0">
                <a:solidFill>
                  <a:srgbClr val="1F2937"/>
                </a:solidFill>
                <a:latin typeface="Microsoft YaHei"/>
                <a:ea typeface="Microsoft YaHei"/>
              </a:rPr>
              <a:t>15. LlmResponse(text)</a:t>
            </a:r>
          </a:p>
        </p:txBody>
      </p:sp>
      <p:cxnSp>
        <p:nvCxnSpPr>
          <p:cNvPr id="62" name="Connector 61"/>
          <p:cNvCxnSpPr/>
          <p:nvPr/>
        </p:nvCxnSpPr>
        <p:spPr>
          <a:xfrm flipH="1">
            <a:off x="3589780" y="5623560"/>
            <a:ext cx="1253032" cy="0"/>
          </a:xfrm>
          <a:prstGeom prst="line">
            <a:avLst/>
          </a:prstGeom>
          <a:ln w="19050">
            <a:solidFill>
              <a:srgbClr val="1F3A5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TextBox 62"/>
          <p:cNvSpPr txBox="1"/>
          <p:nvPr/>
        </p:nvSpPr>
        <p:spPr>
          <a:xfrm>
            <a:off x="3027576" y="5422392"/>
            <a:ext cx="2377440" cy="201168"/>
          </a:xfrm>
          <a:prstGeom prst="rect">
            <a:avLst/>
          </a:prstGeom>
          <a:noFill/>
        </p:spPr>
        <p:txBody>
          <a:bodyPr wrap="none" anchor="t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800" b="0">
                <a:solidFill>
                  <a:srgbClr val="1F2937"/>
                </a:solidFill>
                <a:latin typeface="Microsoft YaHei"/>
                <a:ea typeface="Microsoft YaHei"/>
              </a:rPr>
              <a:t>16. 最终回答事件流</a:t>
            </a:r>
          </a:p>
        </p:txBody>
      </p:sp>
      <p:cxnSp>
        <p:nvCxnSpPr>
          <p:cNvPr id="64" name="Connector 63"/>
          <p:cNvCxnSpPr/>
          <p:nvPr/>
        </p:nvCxnSpPr>
        <p:spPr>
          <a:xfrm>
            <a:off x="3589780" y="5861304"/>
            <a:ext cx="7518192" cy="0"/>
          </a:xfrm>
          <a:prstGeom prst="line">
            <a:avLst/>
          </a:prstGeom>
          <a:ln w="19050">
            <a:solidFill>
              <a:srgbClr val="1F3A5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TextBox 64"/>
          <p:cNvSpPr txBox="1"/>
          <p:nvPr/>
        </p:nvSpPr>
        <p:spPr>
          <a:xfrm>
            <a:off x="3589780" y="5660136"/>
            <a:ext cx="7518192" cy="201168"/>
          </a:xfrm>
          <a:prstGeom prst="rect">
            <a:avLst/>
          </a:prstGeom>
          <a:noFill/>
        </p:spPr>
        <p:txBody>
          <a:bodyPr wrap="none" anchor="t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800" b="0">
                <a:solidFill>
                  <a:srgbClr val="1F2937"/>
                </a:solidFill>
                <a:latin typeface="Microsoft YaHei"/>
                <a:ea typeface="Microsoft YaHei"/>
              </a:rPr>
              <a:t>17. 边生成边 TTS + UI 卡片</a:t>
            </a:r>
          </a:p>
        </p:txBody>
      </p:sp>
      <p:cxnSp>
        <p:nvCxnSpPr>
          <p:cNvPr id="66" name="Connector 65"/>
          <p:cNvCxnSpPr/>
          <p:nvPr/>
        </p:nvCxnSpPr>
        <p:spPr>
          <a:xfrm flipH="1">
            <a:off x="1083716" y="6099048"/>
            <a:ext cx="10024256" cy="0"/>
          </a:xfrm>
          <a:prstGeom prst="line">
            <a:avLst/>
          </a:prstGeom>
          <a:ln w="19050">
            <a:solidFill>
              <a:srgbClr val="1F3A5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TextBox 66"/>
          <p:cNvSpPr txBox="1"/>
          <p:nvPr/>
        </p:nvSpPr>
        <p:spPr>
          <a:xfrm>
            <a:off x="1083716" y="5897880"/>
            <a:ext cx="10024256" cy="201168"/>
          </a:xfrm>
          <a:prstGeom prst="rect">
            <a:avLst/>
          </a:prstGeom>
          <a:noFill/>
        </p:spPr>
        <p:txBody>
          <a:bodyPr wrap="none" anchor="t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800" b="0">
                <a:solidFill>
                  <a:srgbClr val="1F2937"/>
                </a:solidFill>
                <a:latin typeface="Microsoft YaHei"/>
                <a:ea typeface="Microsoft YaHei"/>
              </a:rPr>
              <a:t>18. ♫ 播报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914400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FFFFFF"/>
                </a:solidFill>
                <a:latin typeface="Microsoft YaHei"/>
                <a:ea typeface="Microsoft YaHei"/>
              </a:rPr>
              <a:t>3.2 Agent 决策循环状态机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6B7280"/>
                </a:solidFill>
                <a:latin typeface="Microsoft YaHei"/>
                <a:ea typeface="Microsoft YaHei"/>
              </a:rPr>
              <a:t>一次用户请求 = 2~N 次 LLM 调用；超时 / 取消 / 打断都要按循环设计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6B7280"/>
                </a:solidFill>
                <a:latin typeface="Microsoft YaHei"/>
                <a:ea typeface="Microsoft YaHei"/>
              </a:rPr>
              <a:t>Android 车机 AI 集成架构方案 · ADK Kotlin + 可插拔 AIBox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92240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6B7280"/>
                </a:solidFill>
                <a:latin typeface="Microsoft YaHei"/>
                <a:ea typeface="Microsoft YaHei"/>
              </a:rPr>
              <a:t>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834640"/>
            <a:ext cx="1737360" cy="594360"/>
          </a:xfrm>
          <a:prstGeom prst="roundRect">
            <a:avLst/>
          </a:prstGeom>
          <a:solidFill>
            <a:srgbClr val="F3F4F6"/>
          </a:solidFill>
          <a:ln w="1587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>
                <a:solidFill>
                  <a:srgbClr val="1F2937"/>
                </a:solidFill>
                <a:latin typeface="Microsoft YaHei"/>
                <a:ea typeface="Microsoft YaHei"/>
              </a:rPr>
              <a:t>Idle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34640" y="2834640"/>
            <a:ext cx="1737360" cy="594360"/>
          </a:xfrm>
          <a:prstGeom prst="roundRect">
            <a:avLst/>
          </a:prstGeom>
          <a:solidFill>
            <a:srgbClr val="DCEAFB"/>
          </a:solidFill>
          <a:ln w="15875">
            <a:solidFill>
              <a:srgbClr val="2E6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>
                <a:solidFill>
                  <a:srgbClr val="1F2937"/>
                </a:solidFill>
                <a:latin typeface="Microsoft YaHei"/>
                <a:ea typeface="Microsoft YaHei"/>
              </a:rPr>
              <a:t>Composing</a:t>
            </a:r>
          </a:p>
          <a:p>
            <a:pPr algn="ctr"/>
            <a:r>
              <a:rPr sz="1000" b="0">
                <a:solidFill>
                  <a:srgbClr val="1F2937"/>
                </a:solidFill>
                <a:latin typeface="Microsoft YaHei"/>
                <a:ea typeface="Microsoft YaHei"/>
              </a:rPr>
              <a:t>组装 prompt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0" y="2834640"/>
            <a:ext cx="1737360" cy="594360"/>
          </a:xfrm>
          <a:prstGeom prst="roundRect">
            <a:avLst/>
          </a:prstGeom>
          <a:solidFill>
            <a:srgbClr val="ECE4F9"/>
          </a:solidFill>
          <a:ln w="15875">
            <a:solidFill>
              <a:srgbClr val="7B4F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>
                <a:solidFill>
                  <a:srgbClr val="1F2937"/>
                </a:solidFill>
                <a:latin typeface="Microsoft YaHei"/>
                <a:ea typeface="Microsoft YaHei"/>
              </a:rPr>
              <a:t>CallingLLM</a:t>
            </a:r>
          </a:p>
          <a:p>
            <a:pPr algn="ctr"/>
            <a:r>
              <a:rPr sz="1000" b="0">
                <a:solidFill>
                  <a:srgbClr val="1F2937"/>
                </a:solidFill>
                <a:latin typeface="Microsoft YaHei"/>
                <a:ea typeface="Microsoft YaHei"/>
              </a:rPr>
              <a:t>请求 AIBox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23760" y="2834640"/>
            <a:ext cx="1737360" cy="594360"/>
          </a:xfrm>
          <a:prstGeom prst="roundRect">
            <a:avLst/>
          </a:prstGeom>
          <a:solidFill>
            <a:srgbClr val="DCEAFB"/>
          </a:solidFill>
          <a:ln w="15875">
            <a:solidFill>
              <a:srgbClr val="2E6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>
                <a:solidFill>
                  <a:srgbClr val="1F2937"/>
                </a:solidFill>
                <a:latin typeface="Microsoft YaHei"/>
                <a:ea typeface="Microsoft YaHei"/>
              </a:rPr>
              <a:t>ParsingResponse</a:t>
            </a:r>
          </a:p>
          <a:p>
            <a:pPr algn="ctr"/>
            <a:r>
              <a:rPr sz="1000" b="0">
                <a:solidFill>
                  <a:srgbClr val="1F2937"/>
                </a:solidFill>
                <a:latin typeface="Microsoft YaHei"/>
                <a:ea typeface="Microsoft YaHei"/>
              </a:rPr>
              <a:t>解析响应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784080" y="2834640"/>
            <a:ext cx="1737360" cy="594360"/>
          </a:xfrm>
          <a:prstGeom prst="roundRect">
            <a:avLst/>
          </a:prstGeom>
          <a:solidFill>
            <a:srgbClr val="DFF3E8"/>
          </a:solidFill>
          <a:ln w="15875">
            <a:solidFill>
              <a:srgbClr val="2E9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>
                <a:solidFill>
                  <a:srgbClr val="1F2937"/>
                </a:solidFill>
                <a:latin typeface="Microsoft YaHei"/>
                <a:ea typeface="Microsoft YaHei"/>
              </a:rPr>
              <a:t>Responding</a:t>
            </a:r>
          </a:p>
          <a:p>
            <a:pPr algn="ctr"/>
            <a:r>
              <a:rPr sz="1000" b="0">
                <a:solidFill>
                  <a:srgbClr val="1F2937"/>
                </a:solidFill>
                <a:latin typeface="Microsoft YaHei"/>
                <a:ea typeface="Microsoft YaHei"/>
              </a:rPr>
              <a:t>TTS / UI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23760" y="4343400"/>
            <a:ext cx="1737360" cy="594360"/>
          </a:xfrm>
          <a:prstGeom prst="roundRect">
            <a:avLst/>
          </a:prstGeom>
          <a:solidFill>
            <a:srgbClr val="FFEED9"/>
          </a:solidFill>
          <a:ln w="15875">
            <a:solidFill>
              <a:srgbClr val="F28C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>
                <a:solidFill>
                  <a:srgbClr val="1F2937"/>
                </a:solidFill>
                <a:latin typeface="Microsoft YaHei"/>
                <a:ea typeface="Microsoft YaHei"/>
              </a:rPr>
              <a:t>ExecutingTool</a:t>
            </a:r>
          </a:p>
          <a:p>
            <a:pPr algn="ctr"/>
            <a:r>
              <a:rPr sz="1000" b="0">
                <a:solidFill>
                  <a:srgbClr val="1F2937"/>
                </a:solidFill>
                <a:latin typeface="Microsoft YaHei"/>
                <a:ea typeface="Microsoft YaHei"/>
              </a:rPr>
              <a:t>解析 tool_call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0" y="4343400"/>
            <a:ext cx="1737360" cy="594360"/>
          </a:xfrm>
          <a:prstGeom prst="roundRect">
            <a:avLst/>
          </a:prstGeom>
          <a:solidFill>
            <a:srgbClr val="FFEED9"/>
          </a:solidFill>
          <a:ln w="15875">
            <a:solidFill>
              <a:srgbClr val="F28C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>
                <a:solidFill>
                  <a:srgbClr val="1F2937"/>
                </a:solidFill>
                <a:latin typeface="Microsoft YaHei"/>
                <a:ea typeface="Microsoft YaHei"/>
              </a:rPr>
              <a:t>PolicyCheck</a:t>
            </a:r>
          </a:p>
          <a:p>
            <a:pPr algn="ctr"/>
            <a:r>
              <a:rPr sz="1000" b="0">
                <a:solidFill>
                  <a:srgbClr val="1F2937"/>
                </a:solidFill>
                <a:latin typeface="Microsoft YaHei"/>
                <a:ea typeface="Microsoft YaHei"/>
              </a:rPr>
              <a:t>安全校验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834640" y="4343400"/>
            <a:ext cx="1737360" cy="594360"/>
          </a:xfrm>
          <a:prstGeom prst="roundRect">
            <a:avLst/>
          </a:prstGeom>
          <a:solidFill>
            <a:srgbClr val="FFEED9"/>
          </a:solidFill>
          <a:ln w="15875">
            <a:solidFill>
              <a:srgbClr val="F28C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>
                <a:solidFill>
                  <a:srgbClr val="1F2937"/>
                </a:solidFill>
                <a:latin typeface="Microsoft YaHei"/>
                <a:ea typeface="Microsoft YaHei"/>
              </a:rPr>
              <a:t>RunTool</a:t>
            </a:r>
          </a:p>
          <a:p>
            <a:pPr algn="ctr"/>
            <a:r>
              <a:rPr sz="1000" b="0">
                <a:solidFill>
                  <a:srgbClr val="1F2937"/>
                </a:solidFill>
                <a:latin typeface="Microsoft YaHei"/>
                <a:ea typeface="Microsoft YaHei"/>
              </a:rPr>
              <a:t>执行工具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0" y="5623560"/>
            <a:ext cx="1737360" cy="594360"/>
          </a:xfrm>
          <a:prstGeom prst="roundRect">
            <a:avLst/>
          </a:prstGeom>
          <a:solidFill>
            <a:srgbClr val="FBE3E3"/>
          </a:solidFill>
          <a:ln w="15875">
            <a:solidFill>
              <a:srgbClr val="D93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>
                <a:solidFill>
                  <a:srgbClr val="1F2937"/>
                </a:solidFill>
                <a:latin typeface="Microsoft YaHei"/>
                <a:ea typeface="Microsoft YaHei"/>
              </a:rPr>
              <a:t>WaitConfirm</a:t>
            </a:r>
          </a:p>
          <a:p>
            <a:pPr algn="ctr"/>
            <a:r>
              <a:rPr sz="1000" b="0">
                <a:solidFill>
                  <a:srgbClr val="1F2937"/>
                </a:solidFill>
                <a:latin typeface="Microsoft YaHei"/>
                <a:ea typeface="Microsoft YaHei"/>
              </a:rPr>
              <a:t>二次确认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377440" y="3131820"/>
            <a:ext cx="457200" cy="0"/>
          </a:xfrm>
          <a:prstGeom prst="line">
            <a:avLst/>
          </a:prstGeom>
          <a:ln w="19050">
            <a:solidFill>
              <a:srgbClr val="1F3A5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1691640" y="2875788"/>
            <a:ext cx="1828800" cy="25603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0">
                <a:solidFill>
                  <a:srgbClr val="1F3A5F"/>
                </a:solidFill>
                <a:latin typeface="Microsoft YaHei"/>
                <a:ea typeface="Microsoft YaHei"/>
              </a:rPr>
              <a:t>收到 UserRequest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572000" y="3131820"/>
            <a:ext cx="457200" cy="0"/>
          </a:xfrm>
          <a:prstGeom prst="line">
            <a:avLst/>
          </a:prstGeom>
          <a:ln w="19050">
            <a:solidFill>
              <a:srgbClr val="1F3A5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3886200" y="2875788"/>
            <a:ext cx="1828800" cy="25603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0">
                <a:solidFill>
                  <a:srgbClr val="1F3A5F"/>
                </a:solidFill>
                <a:latin typeface="Microsoft YaHei"/>
                <a:ea typeface="Microsoft YaHei"/>
              </a:rPr>
              <a:t>prompt 就绪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766560" y="3131820"/>
            <a:ext cx="457200" cy="0"/>
          </a:xfrm>
          <a:prstGeom prst="line">
            <a:avLst/>
          </a:prstGeom>
          <a:ln w="19050">
            <a:solidFill>
              <a:srgbClr val="1F3A5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080760" y="2875788"/>
            <a:ext cx="1828800" cy="25603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0">
                <a:solidFill>
                  <a:srgbClr val="1F3A5F"/>
                </a:solidFill>
                <a:latin typeface="Microsoft YaHei"/>
                <a:ea typeface="Microsoft YaHei"/>
              </a:rPr>
              <a:t>收到响应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961120" y="3131820"/>
            <a:ext cx="822960" cy="0"/>
          </a:xfrm>
          <a:prstGeom prst="line">
            <a:avLst/>
          </a:prstGeom>
          <a:ln w="19050">
            <a:solidFill>
              <a:srgbClr val="2E9E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8458200" y="2875788"/>
            <a:ext cx="1828800" cy="25603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0">
                <a:solidFill>
                  <a:srgbClr val="2E9E6B"/>
                </a:solidFill>
                <a:latin typeface="Microsoft YaHei"/>
                <a:ea typeface="Microsoft YaHei"/>
              </a:rPr>
              <a:t>纯文本回答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8092440" y="3429000"/>
            <a:ext cx="0" cy="914400"/>
          </a:xfrm>
          <a:prstGeom prst="line">
            <a:avLst/>
          </a:prstGeom>
          <a:ln w="19050">
            <a:solidFill>
              <a:srgbClr val="F28C2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8001000" y="3758184"/>
            <a:ext cx="1828800" cy="25603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0">
                <a:solidFill>
                  <a:srgbClr val="F28C28"/>
                </a:solidFill>
                <a:latin typeface="Microsoft YaHei"/>
                <a:ea typeface="Microsoft YaHei"/>
              </a:rPr>
              <a:t>含 tool_call</a:t>
            </a:r>
          </a:p>
        </p:txBody>
      </p:sp>
      <p:cxnSp>
        <p:nvCxnSpPr>
          <p:cNvPr id="27" name="Connector 26"/>
          <p:cNvCxnSpPr/>
          <p:nvPr/>
        </p:nvCxnSpPr>
        <p:spPr>
          <a:xfrm flipH="1">
            <a:off x="6766560" y="4640580"/>
            <a:ext cx="457200" cy="0"/>
          </a:xfrm>
          <a:prstGeom prst="line">
            <a:avLst/>
          </a:prstGeom>
          <a:ln w="19050">
            <a:solidFill>
              <a:srgbClr val="F28C2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6080760" y="4384548"/>
            <a:ext cx="1828800" cy="25603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0">
                <a:solidFill>
                  <a:srgbClr val="F28C28"/>
                </a:solidFill>
                <a:latin typeface="Microsoft YaHei"/>
                <a:ea typeface="Microsoft YaHei"/>
              </a:rPr>
              <a:t/>
            </a:r>
          </a:p>
        </p:txBody>
      </p:sp>
      <p:cxnSp>
        <p:nvCxnSpPr>
          <p:cNvPr id="29" name="Connector 28"/>
          <p:cNvCxnSpPr/>
          <p:nvPr/>
        </p:nvCxnSpPr>
        <p:spPr>
          <a:xfrm flipH="1">
            <a:off x="2834640" y="4640580"/>
            <a:ext cx="3931920" cy="0"/>
          </a:xfrm>
          <a:prstGeom prst="line">
            <a:avLst/>
          </a:prstGeom>
          <a:ln w="19050">
            <a:solidFill>
              <a:srgbClr val="F28C2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3886200" y="4384548"/>
            <a:ext cx="1828800" cy="25603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0">
                <a:solidFill>
                  <a:srgbClr val="F28C28"/>
                </a:solidFill>
                <a:latin typeface="Microsoft YaHei"/>
                <a:ea typeface="Microsoft YaHei"/>
              </a:rPr>
              <a:t>允许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5897880" y="4937760"/>
            <a:ext cx="0" cy="685800"/>
          </a:xfrm>
          <a:prstGeom prst="line">
            <a:avLst/>
          </a:prstGeom>
          <a:ln w="19050">
            <a:solidFill>
              <a:srgbClr val="D93C3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5806440" y="5152644"/>
            <a:ext cx="1828800" cy="25603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0">
                <a:solidFill>
                  <a:srgbClr val="D93C3C"/>
                </a:solidFill>
                <a:latin typeface="Microsoft YaHei"/>
                <a:ea typeface="Microsoft YaHei"/>
              </a:rPr>
              <a:t>高危操作</a:t>
            </a:r>
          </a:p>
        </p:txBody>
      </p:sp>
      <p:cxnSp>
        <p:nvCxnSpPr>
          <p:cNvPr id="33" name="Connector 32"/>
          <p:cNvCxnSpPr/>
          <p:nvPr/>
        </p:nvCxnSpPr>
        <p:spPr>
          <a:xfrm flipH="1" flipV="1">
            <a:off x="3703320" y="4937760"/>
            <a:ext cx="1325880" cy="982980"/>
          </a:xfrm>
          <a:prstGeom prst="line">
            <a:avLst/>
          </a:prstGeom>
          <a:ln w="19050">
            <a:solidFill>
              <a:srgbClr val="2E9E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3086100" y="5429250"/>
            <a:ext cx="1828800" cy="25603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0">
                <a:solidFill>
                  <a:srgbClr val="2E9E6B"/>
                </a:solidFill>
                <a:latin typeface="Microsoft YaHei"/>
                <a:ea typeface="Microsoft YaHei"/>
              </a:rPr>
              <a:t>用户确认</a:t>
            </a:r>
          </a:p>
        </p:txBody>
      </p:sp>
      <p:cxnSp>
        <p:nvCxnSpPr>
          <p:cNvPr id="35" name="Connector 34"/>
          <p:cNvCxnSpPr/>
          <p:nvPr/>
        </p:nvCxnSpPr>
        <p:spPr>
          <a:xfrm flipV="1">
            <a:off x="3703320" y="3429000"/>
            <a:ext cx="1645920" cy="914400"/>
          </a:xfrm>
          <a:prstGeom prst="line">
            <a:avLst/>
          </a:prstGeom>
          <a:ln w="19050">
            <a:solidFill>
              <a:srgbClr val="7B4FC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3154680" y="3566160"/>
            <a:ext cx="1828800" cy="25603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0">
                <a:solidFill>
                  <a:srgbClr val="7B4FC9"/>
                </a:solidFill>
                <a:latin typeface="Microsoft YaHei"/>
                <a:ea typeface="Microsoft YaHei"/>
              </a:rPr>
              <a:t>回填 functionResponse</a:t>
            </a:r>
          </a:p>
        </p:txBody>
      </p:sp>
      <p:cxnSp>
        <p:nvCxnSpPr>
          <p:cNvPr id="37" name="Connector 36"/>
          <p:cNvCxnSpPr/>
          <p:nvPr/>
        </p:nvCxnSpPr>
        <p:spPr>
          <a:xfrm flipV="1">
            <a:off x="6446520" y="3429000"/>
            <a:ext cx="0" cy="914400"/>
          </a:xfrm>
          <a:prstGeom prst="line">
            <a:avLst/>
          </a:prstGeom>
          <a:ln w="19050">
            <a:solidFill>
              <a:srgbClr val="D93C3C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6446520" y="3758184"/>
            <a:ext cx="1828800" cy="25603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0">
                <a:solidFill>
                  <a:srgbClr val="D93C3C"/>
                </a:solidFill>
                <a:latin typeface="Microsoft YaHei"/>
                <a:ea typeface="Microsoft YaHei"/>
              </a:rPr>
              <a:t>拒绝(回填原因)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5897880" y="6217920"/>
            <a:ext cx="0" cy="137160"/>
          </a:xfrm>
          <a:prstGeom prst="line">
            <a:avLst/>
          </a:prstGeom>
          <a:ln w="1905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5897880" y="6355080"/>
            <a:ext cx="4754880" cy="0"/>
          </a:xfrm>
          <a:prstGeom prst="line">
            <a:avLst/>
          </a:prstGeom>
          <a:ln w="1905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10652760" y="3429000"/>
            <a:ext cx="0" cy="2926080"/>
          </a:xfrm>
          <a:prstGeom prst="line">
            <a:avLst/>
          </a:prstGeom>
          <a:ln w="1905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6400800" y="6099048"/>
            <a:ext cx="3200400" cy="25603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0">
                <a:solidFill>
                  <a:srgbClr val="6B7280"/>
                </a:solidFill>
                <a:latin typeface="Microsoft YaHei"/>
                <a:ea typeface="Microsoft YaHei"/>
              </a:rPr>
              <a:t>用户取消 → Responding</a:t>
            </a:r>
          </a:p>
        </p:txBody>
      </p:sp>
      <p:cxnSp>
        <p:nvCxnSpPr>
          <p:cNvPr id="43" name="Connector 42"/>
          <p:cNvCxnSpPr/>
          <p:nvPr/>
        </p:nvCxnSpPr>
        <p:spPr>
          <a:xfrm flipV="1">
            <a:off x="10652760" y="2148840"/>
            <a:ext cx="0" cy="685800"/>
          </a:xfrm>
          <a:prstGeom prst="line">
            <a:avLst/>
          </a:prstGeom>
          <a:ln w="19050">
            <a:solidFill>
              <a:srgbClr val="2E9E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H="1">
            <a:off x="1783080" y="2148840"/>
            <a:ext cx="8869680" cy="0"/>
          </a:xfrm>
          <a:prstGeom prst="line">
            <a:avLst/>
          </a:prstGeom>
          <a:ln w="19050">
            <a:solidFill>
              <a:srgbClr val="2E9E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1783080" y="2148840"/>
            <a:ext cx="0" cy="685800"/>
          </a:xfrm>
          <a:prstGeom prst="line">
            <a:avLst/>
          </a:prstGeom>
          <a:ln w="19050">
            <a:solidFill>
              <a:srgbClr val="2E9E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6858000" y="1874519"/>
            <a:ext cx="2743200" cy="25603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0">
                <a:solidFill>
                  <a:srgbClr val="2E9E6B"/>
                </a:solidFill>
                <a:latin typeface="Microsoft YaHei"/>
                <a:ea typeface="Microsoft YaHei"/>
              </a:rPr>
              <a:t>TTS/UI 完成 → Idle</a:t>
            </a:r>
          </a:p>
        </p:txBody>
      </p:sp>
      <p:cxnSp>
        <p:nvCxnSpPr>
          <p:cNvPr id="47" name="Connector 46"/>
          <p:cNvCxnSpPr/>
          <p:nvPr/>
        </p:nvCxnSpPr>
        <p:spPr>
          <a:xfrm flipV="1">
            <a:off x="5349240" y="2468880"/>
            <a:ext cx="0" cy="365760"/>
          </a:xfrm>
          <a:prstGeom prst="line">
            <a:avLst/>
          </a:prstGeom>
          <a:ln w="15240">
            <a:solidFill>
              <a:srgbClr val="D93C3C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H="1">
            <a:off x="1234440" y="2468880"/>
            <a:ext cx="4114800" cy="0"/>
          </a:xfrm>
          <a:prstGeom prst="line">
            <a:avLst/>
          </a:prstGeom>
          <a:ln w="15240">
            <a:solidFill>
              <a:srgbClr val="D93C3C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1234440" y="2468880"/>
            <a:ext cx="0" cy="365760"/>
          </a:xfrm>
          <a:prstGeom prst="line">
            <a:avLst/>
          </a:prstGeom>
          <a:ln w="15240">
            <a:solidFill>
              <a:srgbClr val="D93C3C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1645920" y="2212848"/>
            <a:ext cx="3200400" cy="25603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0">
                <a:solidFill>
                  <a:srgbClr val="D93C3C"/>
                </a:solidFill>
                <a:latin typeface="Microsoft YaHei"/>
                <a:ea typeface="Microsoft YaHei"/>
              </a:rPr>
              <a:t>用户打断 / 超时 / 取消 → Idle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0080" y="4343400"/>
            <a:ext cx="2103120" cy="1463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1F3A5F"/>
                </a:solidFill>
                <a:latin typeface="Microsoft YaHei"/>
                <a:ea typeface="Microsoft YaHei"/>
              </a:rPr>
              <a:t>图例：</a:t>
            </a:r>
          </a:p>
          <a:p>
            <a:pPr algn="l">
              <a:lnSpc>
                <a:spcPct val="110000"/>
              </a:lnSpc>
            </a:pPr>
            <a:r>
              <a:rPr sz="1000" b="0">
                <a:solidFill>
                  <a:srgbClr val="1F3A5F"/>
                </a:solidFill>
                <a:latin typeface="Microsoft YaHei"/>
                <a:ea typeface="Microsoft YaHei"/>
              </a:rPr>
              <a:t>● 蓝：Agent 内部状态</a:t>
            </a:r>
          </a:p>
          <a:p>
            <a:pPr algn="l">
              <a:lnSpc>
                <a:spcPct val="110000"/>
              </a:lnSpc>
            </a:pPr>
            <a:r>
              <a:rPr sz="1000" b="0">
                <a:solidFill>
                  <a:srgbClr val="1F3A5F"/>
                </a:solidFill>
                <a:latin typeface="Microsoft YaHei"/>
                <a:ea typeface="Microsoft YaHei"/>
              </a:rPr>
              <a:t>● 紫：与 AIBox 交互</a:t>
            </a:r>
          </a:p>
          <a:p>
            <a:pPr algn="l">
              <a:lnSpc>
                <a:spcPct val="110000"/>
              </a:lnSpc>
            </a:pPr>
            <a:r>
              <a:rPr sz="1000" b="0">
                <a:solidFill>
                  <a:srgbClr val="1F3A5F"/>
                </a:solidFill>
                <a:latin typeface="Microsoft YaHei"/>
                <a:ea typeface="Microsoft YaHei"/>
              </a:rPr>
              <a:t>● 橙：Tool 执行路径</a:t>
            </a:r>
          </a:p>
          <a:p>
            <a:pPr algn="l">
              <a:lnSpc>
                <a:spcPct val="110000"/>
              </a:lnSpc>
            </a:pPr>
            <a:r>
              <a:rPr sz="1000" b="0">
                <a:solidFill>
                  <a:srgbClr val="1F3A5F"/>
                </a:solidFill>
                <a:latin typeface="Microsoft YaHei"/>
                <a:ea typeface="Microsoft YaHei"/>
              </a:rPr>
              <a:t>● 红：安全拦截 / 中断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914400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FFFFFF"/>
                </a:solidFill>
                <a:latin typeface="Microsoft YaHei"/>
                <a:ea typeface="Microsoft YaHei"/>
              </a:rPr>
              <a:t>3.3 三种输入源归一化 &amp; 4.1 输入层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6B7280"/>
                </a:solidFill>
                <a:latin typeface="Microsoft YaHei"/>
                <a:ea typeface="Microsoft YaHei"/>
              </a:rPr>
              <a:t>所有入口统一转成 UserRequest，Agent 无需感知来源差异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6B7280"/>
                </a:solidFill>
                <a:latin typeface="Microsoft YaHei"/>
                <a:ea typeface="Microsoft YaHei"/>
              </a:rPr>
              <a:t>Android 车机 AI 集成架构方案 · ADK Kotlin + 可插拔 AIBox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92240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6B7280"/>
                </a:solidFill>
                <a:latin typeface="Microsoft YaHei"/>
                <a:ea typeface="Microsoft YaHei"/>
              </a:rPr>
              <a:t>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554480"/>
            <a:ext cx="3291840" cy="8229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1F2937"/>
                </a:solidFill>
                <a:latin typeface="Microsoft YaHei"/>
                <a:ea typeface="Microsoft YaHei"/>
              </a:rPr>
              <a:t>♪ 语音</a:t>
            </a:r>
          </a:p>
          <a:p>
            <a:pPr algn="ctr"/>
            <a:r>
              <a:rPr sz="1100" b="0">
                <a:solidFill>
                  <a:srgbClr val="1F2937"/>
                </a:solidFill>
                <a:latin typeface="Microsoft YaHei"/>
                <a:ea typeface="Microsoft YaHei"/>
              </a:rPr>
              <a:t>唤醒词 → ASR → 文本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788920"/>
            <a:ext cx="3291840" cy="8229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1F2937"/>
                </a:solidFill>
                <a:latin typeface="Microsoft YaHei"/>
                <a:ea typeface="Microsoft YaHei"/>
              </a:rPr>
              <a:t>▣ UI</a:t>
            </a:r>
          </a:p>
          <a:p>
            <a:pPr algn="ctr"/>
            <a:r>
              <a:rPr sz="1100" b="0">
                <a:solidFill>
                  <a:srgbClr val="1F2937"/>
                </a:solidFill>
                <a:latin typeface="Microsoft YaHei"/>
                <a:ea typeface="Microsoft YaHei"/>
              </a:rPr>
              <a:t>点击“调低温度” → 预置意图文本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023360"/>
            <a:ext cx="3291840" cy="8229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1F2937"/>
                </a:solidFill>
                <a:latin typeface="Microsoft YaHei"/>
                <a:ea typeface="Microsoft YaHei"/>
              </a:rPr>
              <a:t>⌨ 按键</a:t>
            </a:r>
          </a:p>
          <a:p>
            <a:pPr algn="ctr"/>
            <a:r>
              <a:rPr sz="1100" b="0">
                <a:solidFill>
                  <a:srgbClr val="1F2937"/>
                </a:solidFill>
                <a:latin typeface="Microsoft YaHei"/>
                <a:ea typeface="Microsoft YaHei"/>
              </a:rPr>
              <a:t>KEYCODE_VOICE_ASSIST → 拾音；自定义键 → 预置意图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54880" y="2103120"/>
            <a:ext cx="3108960" cy="2194560"/>
          </a:xfrm>
          <a:prstGeom prst="roundRect">
            <a:avLst/>
          </a:prstGeom>
          <a:solidFill>
            <a:srgbClr val="DCEAFB"/>
          </a:solidFill>
          <a:ln w="15875">
            <a:solidFill>
              <a:srgbClr val="2E6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200" b="1">
                <a:solidFill>
                  <a:srgbClr val="1F2937"/>
                </a:solidFill>
                <a:latin typeface="Microsoft YaHei"/>
                <a:ea typeface="Microsoft YaHei"/>
              </a:rPr>
              <a:t>UserRequest {</a:t>
            </a:r>
          </a:p>
          <a:p>
            <a:pPr algn="l"/>
            <a:r>
              <a:rPr sz="1000" b="0">
                <a:solidFill>
                  <a:srgbClr val="1F2937"/>
                </a:solidFill>
                <a:latin typeface="Microsoft YaHei"/>
                <a:ea typeface="Microsoft YaHei"/>
              </a:rPr>
              <a:t>  text: String</a:t>
            </a:r>
          </a:p>
          <a:p>
            <a:pPr algn="l"/>
            <a:r>
              <a:rPr sz="1000" b="0">
                <a:solidFill>
                  <a:srgbClr val="1F2937"/>
                </a:solidFill>
                <a:latin typeface="Microsoft YaHei"/>
                <a:ea typeface="Microsoft YaHei"/>
              </a:rPr>
              <a:t>  source: VOICE | UI | KEY</a:t>
            </a:r>
          </a:p>
          <a:p>
            <a:pPr algn="l"/>
            <a:r>
              <a:rPr sz="1000" b="0">
                <a:solidFill>
                  <a:srgbClr val="1F2937"/>
                </a:solidFill>
                <a:latin typeface="Microsoft YaHei"/>
                <a:ea typeface="Microsoft YaHei"/>
              </a:rPr>
              <a:t>  carContext: 速度/档位/温度/导航态</a:t>
            </a:r>
          </a:p>
          <a:p>
            <a:pPr algn="l"/>
            <a:r>
              <a:rPr sz="1000" b="0">
                <a:solidFill>
                  <a:srgbClr val="1F2937"/>
                </a:solidFill>
                <a:latin typeface="Microsoft YaHei"/>
                <a:ea typeface="Microsoft YaHei"/>
              </a:rPr>
              <a:t>  uiContext: 当前页面</a:t>
            </a:r>
          </a:p>
          <a:p>
            <a:pPr algn="l"/>
            <a:r>
              <a:rPr sz="1000" b="0">
                <a:solidFill>
                  <a:srgbClr val="1F2937"/>
                </a:solidFill>
                <a:latin typeface="Microsoft YaHei"/>
                <a:ea typeface="Microsoft YaHei"/>
              </a:rPr>
              <a:t>}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840480" y="1965960"/>
            <a:ext cx="914400" cy="1234440"/>
          </a:xfrm>
          <a:prstGeom prst="line">
            <a:avLst/>
          </a:prstGeom>
          <a:ln w="19050">
            <a:solidFill>
              <a:srgbClr val="1F3A5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3840480" y="3200400"/>
            <a:ext cx="914400" cy="0"/>
          </a:xfrm>
          <a:prstGeom prst="line">
            <a:avLst/>
          </a:prstGeom>
          <a:ln w="19050">
            <a:solidFill>
              <a:srgbClr val="1F3A5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3840480" y="3200400"/>
            <a:ext cx="914400" cy="1234440"/>
          </a:xfrm>
          <a:prstGeom prst="line">
            <a:avLst/>
          </a:prstGeom>
          <a:ln w="19050">
            <a:solidFill>
              <a:srgbClr val="1F3A5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8778240" y="2743200"/>
            <a:ext cx="2743200" cy="914400"/>
          </a:xfrm>
          <a:prstGeom prst="roundRect">
            <a:avLst/>
          </a:prstGeom>
          <a:solidFill>
            <a:srgbClr val="DCEAFB"/>
          </a:solidFill>
          <a:ln w="15875">
            <a:solidFill>
              <a:srgbClr val="2E6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1F2937"/>
                </a:solidFill>
                <a:latin typeface="Microsoft YaHei"/>
                <a:ea typeface="Microsoft YaHei"/>
              </a:rPr>
              <a:t>ADK Runner</a:t>
            </a:r>
          </a:p>
          <a:p>
            <a:pPr algn="ctr"/>
            <a:r>
              <a:rPr sz="1100" b="0">
                <a:solidFill>
                  <a:srgbClr val="1F2937"/>
                </a:solidFill>
                <a:latin typeface="Microsoft YaHei"/>
                <a:ea typeface="Microsoft YaHei"/>
              </a:rPr>
              <a:t>runAsync()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863840" y="3200400"/>
            <a:ext cx="914400" cy="0"/>
          </a:xfrm>
          <a:prstGeom prst="line">
            <a:avLst/>
          </a:prstGeom>
          <a:ln w="25400">
            <a:solidFill>
              <a:srgbClr val="1F3A5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548640" y="5120640"/>
          <a:ext cx="11064240" cy="13167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83030"/>
                <a:gridCol w="4149090"/>
                <a:gridCol w="5532120"/>
              </a:tblGrid>
              <a:tr h="329184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输入源</a:t>
                      </a:r>
                    </a:p>
                  </a:txBody>
                  <a:tcPr marL="73152" marR="73152" marT="36576" marB="36576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技术实现</a:t>
                      </a:r>
                    </a:p>
                  </a:txBody>
                  <a:tcPr marL="73152" marR="73152" marT="36576" marB="36576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备注</a:t>
                      </a:r>
                    </a:p>
                  </a:txBody>
                  <a:tcPr marL="73152" marR="73152" marT="36576" marB="36576" anchor="ctr">
                    <a:solidFill>
                      <a:srgbClr val="1F3A5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语音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唤醒词引擎(本地) → ASR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ASR 建议车机端优先，保证无 AIBox 时仍可用；AIBox 可作增强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UI</a:t>
                      </a:r>
                    </a:p>
                  </a:txBody>
                  <a:tcPr marL="73152" marR="73152" marT="36576" marB="36576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Compose 点击事件 → 意图文本</a:t>
                      </a:r>
                    </a:p>
                  </a:txBody>
                  <a:tcPr marL="73152" marR="73152" marT="36576" marB="36576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按钮“我要去公司” → text=“导航到公司”</a:t>
                      </a:r>
                    </a:p>
                  </a:txBody>
                  <a:tcPr marL="73152" marR="73152" marT="36576" marB="36576" anchor="ctr">
                    <a:solidFill>
                      <a:srgbClr val="F3F4F6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物理按键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KeyEvent.KEYCODE_VOICE_ASSIST / VHAL HW_KEY_INPUT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短按拾音、长按取消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914400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FFFFFF"/>
                </a:solidFill>
                <a:latin typeface="Microsoft YaHei"/>
                <a:ea typeface="Microsoft YaHei"/>
              </a:rPr>
              <a:t>4.2 Agent 层 (ADK Kotlin) 类结构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6B7280"/>
                </a:solidFill>
                <a:latin typeface="Microsoft YaHei"/>
                <a:ea typeface="Microsoft YaHei"/>
              </a:rPr>
              <a:t>由当前工程 HelloTimeAgent.kt 直接演进；Tools 沿用 @Tool / @Param 注解 + KSP 生成 schema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6B7280"/>
                </a:solidFill>
                <a:latin typeface="Microsoft YaHei"/>
                <a:ea typeface="Microsoft YaHei"/>
              </a:rPr>
              <a:t>Android 车机 AI 集成架构方案 · ADK Kotlin + 可插拔 AIBox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92240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6B7280"/>
                </a:solidFill>
                <a:latin typeface="Microsoft YaHei"/>
                <a:ea typeface="Microsoft YaHei"/>
              </a:rPr>
              <a:t>9</a:t>
            </a:r>
          </a:p>
        </p:txBody>
      </p:sp>
      <p:sp>
        <p:nvSpPr>
          <p:cNvPr id="8" name="Rectangle 7"/>
          <p:cNvSpPr/>
          <p:nvPr/>
        </p:nvSpPr>
        <p:spPr>
          <a:xfrm>
            <a:off x="4206240" y="1371600"/>
            <a:ext cx="2926080" cy="365760"/>
          </a:xfrm>
          <a:prstGeom prst="rect">
            <a:avLst/>
          </a:prstGeom>
          <a:solidFill>
            <a:srgbClr val="2E6FD6"/>
          </a:solidFill>
          <a:ln w="15875">
            <a:solidFill>
              <a:srgbClr val="2E6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LlmAgent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4206240" y="1737360"/>
            <a:ext cx="2926080" cy="1097280"/>
          </a:xfrm>
          <a:prstGeom prst="rect">
            <a:avLst/>
          </a:prstGeom>
          <a:solidFill>
            <a:srgbClr val="FFFFFF"/>
          </a:solidFill>
          <a:ln w="15875">
            <a:solidFill>
              <a:srgbClr val="2E6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00" b="0">
                <a:solidFill>
                  <a:srgbClr val="1F2937"/>
                </a:solidFill>
                <a:latin typeface="Microsoft YaHei"/>
                <a:ea typeface="Microsoft YaHei"/>
              </a:rPr>
              <a:t>+ name: String</a:t>
            </a:r>
          </a:p>
          <a:p>
            <a:pPr algn="l"/>
            <a:r>
              <a:rPr sz="1000" b="0">
                <a:solidFill>
                  <a:srgbClr val="1F2937"/>
                </a:solidFill>
                <a:latin typeface="Microsoft YaHei"/>
                <a:ea typeface="Microsoft YaHei"/>
              </a:rPr>
              <a:t>+ instruction: Instruction</a:t>
            </a:r>
          </a:p>
          <a:p>
            <a:pPr algn="l"/>
            <a:r>
              <a:rPr sz="1000" b="0">
                <a:solidFill>
                  <a:srgbClr val="1F2937"/>
                </a:solidFill>
                <a:latin typeface="Microsoft YaHei"/>
                <a:ea typeface="Microsoft YaHei"/>
              </a:rPr>
              <a:t>+ model: Model</a:t>
            </a:r>
          </a:p>
          <a:p>
            <a:pPr algn="l"/>
            <a:r>
              <a:rPr sz="1000" b="0">
                <a:solidFill>
                  <a:srgbClr val="1F2937"/>
                </a:solidFill>
                <a:latin typeface="Microsoft YaHei"/>
                <a:ea typeface="Microsoft YaHei"/>
              </a:rPr>
              <a:t>+ tools: List&lt;Tool&gt;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371600"/>
            <a:ext cx="2926080" cy="365760"/>
          </a:xfrm>
          <a:prstGeom prst="rect">
            <a:avLst/>
          </a:prstGeom>
          <a:solidFill>
            <a:srgbClr val="2E6FD6"/>
          </a:solidFill>
          <a:ln w="15875">
            <a:solidFill>
              <a:srgbClr val="2E6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«interface» Model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1737360"/>
            <a:ext cx="2926080" cy="822960"/>
          </a:xfrm>
          <a:prstGeom prst="rect">
            <a:avLst/>
          </a:prstGeom>
          <a:solidFill>
            <a:srgbClr val="FFFFFF"/>
          </a:solidFill>
          <a:ln w="15875">
            <a:solidFill>
              <a:srgbClr val="2E6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00" b="0">
                <a:solidFill>
                  <a:srgbClr val="1F2937"/>
                </a:solidFill>
                <a:latin typeface="Microsoft YaHei"/>
                <a:ea typeface="Microsoft YaHei"/>
              </a:rPr>
              <a:t>+ name: String</a:t>
            </a:r>
          </a:p>
          <a:p>
            <a:pPr algn="l"/>
            <a:r>
              <a:rPr sz="1000" b="0">
                <a:solidFill>
                  <a:srgbClr val="1F2937"/>
                </a:solidFill>
                <a:latin typeface="Microsoft YaHei"/>
                <a:ea typeface="Microsoft YaHei"/>
              </a:rPr>
              <a:t>+ generateContent(request, stream)</a:t>
            </a:r>
          </a:p>
          <a:p>
            <a:pPr algn="l"/>
            <a:r>
              <a:rPr sz="1000" b="0">
                <a:solidFill>
                  <a:srgbClr val="1F2937"/>
                </a:solidFill>
                <a:latin typeface="Microsoft YaHei"/>
                <a:ea typeface="Microsoft YaHei"/>
              </a:rPr>
              <a:t>    : Flow&lt;LlmResponse&gt;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108960"/>
            <a:ext cx="2926080" cy="365760"/>
          </a:xfrm>
          <a:prstGeom prst="rect">
            <a:avLst/>
          </a:prstGeom>
          <a:solidFill>
            <a:srgbClr val="7B4FC9"/>
          </a:solidFill>
          <a:ln w="15875">
            <a:solidFill>
              <a:srgbClr val="7B4F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AIBoxModel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474720"/>
            <a:ext cx="2926080" cy="914399"/>
          </a:xfrm>
          <a:prstGeom prst="rect">
            <a:avLst/>
          </a:prstGeom>
          <a:solidFill>
            <a:srgbClr val="ECE4F9"/>
          </a:solidFill>
          <a:ln w="15875">
            <a:solidFill>
              <a:srgbClr val="7B4F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00" b="0">
                <a:solidFill>
                  <a:srgbClr val="1F2937"/>
                </a:solidFill>
                <a:latin typeface="Microsoft YaHei"/>
                <a:ea typeface="Microsoft YaHei"/>
              </a:rPr>
              <a:t>- client: AIBoxClient</a:t>
            </a:r>
          </a:p>
          <a:p>
            <a:pPr algn="l"/>
            <a:r>
              <a:rPr sz="1000" b="0">
                <a:solidFill>
                  <a:srgbClr val="1F2937"/>
                </a:solidFill>
                <a:latin typeface="Microsoft YaHei"/>
                <a:ea typeface="Microsoft YaHei"/>
              </a:rPr>
              <a:t>- fallback: Model?</a:t>
            </a:r>
          </a:p>
          <a:p>
            <a:pPr algn="l"/>
            <a:r>
              <a:rPr sz="1000" b="0">
                <a:solidFill>
                  <a:srgbClr val="1F2937"/>
                </a:solidFill>
                <a:latin typeface="Microsoft YaHei"/>
                <a:ea typeface="Microsoft YaHei"/>
              </a:rPr>
              <a:t>+ generateContent(request, stream)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06240" y="3566160"/>
            <a:ext cx="2377440" cy="365760"/>
          </a:xfrm>
          <a:prstGeom prst="rect">
            <a:avLst/>
          </a:prstGeom>
          <a:solidFill>
            <a:srgbClr val="F28C28"/>
          </a:solidFill>
          <a:ln w="15875">
            <a:solidFill>
              <a:srgbClr val="F28C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CarControlTools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06240" y="3931920"/>
            <a:ext cx="2377440" cy="1005840"/>
          </a:xfrm>
          <a:prstGeom prst="rect">
            <a:avLst/>
          </a:prstGeom>
          <a:solidFill>
            <a:srgbClr val="FFEED9"/>
          </a:solidFill>
          <a:ln w="15875">
            <a:solidFill>
              <a:srgbClr val="F28C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00" b="0">
                <a:solidFill>
                  <a:srgbClr val="1F2937"/>
                </a:solidFill>
                <a:latin typeface="Microsoft YaHei"/>
                <a:ea typeface="Microsoft YaHei"/>
              </a:rPr>
              <a:t>@Tool setAcTemperature(temp, zone)</a:t>
            </a:r>
          </a:p>
          <a:p>
            <a:pPr algn="l"/>
            <a:r>
              <a:rPr sz="1000" b="0">
                <a:solidFill>
                  <a:srgbClr val="1F2937"/>
                </a:solidFill>
                <a:latin typeface="Microsoft YaHei"/>
                <a:ea typeface="Microsoft YaHei"/>
              </a:rPr>
              <a:t>@Tool setWindow(position, zone)</a:t>
            </a:r>
          </a:p>
          <a:p>
            <a:pPr algn="l"/>
            <a:r>
              <a:rPr sz="1000" b="0">
                <a:solidFill>
                  <a:srgbClr val="1F2937"/>
                </a:solidFill>
                <a:latin typeface="Microsoft YaHei"/>
                <a:ea typeface="Microsoft YaHei"/>
              </a:rPr>
              <a:t>@Tool setSeatHeater(level, zone)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0" y="3566160"/>
            <a:ext cx="2194560" cy="365760"/>
          </a:xfrm>
          <a:prstGeom prst="rect">
            <a:avLst/>
          </a:prstGeom>
          <a:solidFill>
            <a:srgbClr val="F28C28"/>
          </a:solidFill>
          <a:ln w="15875">
            <a:solidFill>
              <a:srgbClr val="F28C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NavigationTools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0" y="3931920"/>
            <a:ext cx="2194560" cy="1005840"/>
          </a:xfrm>
          <a:prstGeom prst="rect">
            <a:avLst/>
          </a:prstGeom>
          <a:solidFill>
            <a:srgbClr val="FFEED9"/>
          </a:solidFill>
          <a:ln w="15875">
            <a:solidFill>
              <a:srgbClr val="F28C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00" b="0">
                <a:solidFill>
                  <a:srgbClr val="1F2937"/>
                </a:solidFill>
                <a:latin typeface="Microsoft YaHei"/>
                <a:ea typeface="Microsoft YaHei"/>
              </a:rPr>
              <a:t>@Tool navigateTo(destination)</a:t>
            </a:r>
          </a:p>
          <a:p>
            <a:pPr algn="l"/>
            <a:r>
              <a:rPr sz="1000" b="0">
                <a:solidFill>
                  <a:srgbClr val="1F2937"/>
                </a:solidFill>
                <a:latin typeface="Microsoft YaHei"/>
                <a:ea typeface="Microsoft YaHei"/>
              </a:rPr>
              <a:t>@Tool cancelNavigation()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0" y="3566160"/>
            <a:ext cx="2194560" cy="365760"/>
          </a:xfrm>
          <a:prstGeom prst="rect">
            <a:avLst/>
          </a:prstGeom>
          <a:solidFill>
            <a:srgbClr val="F28C28"/>
          </a:solidFill>
          <a:ln w="15875">
            <a:solidFill>
              <a:srgbClr val="F28C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MediaTools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326880" y="3931920"/>
            <a:ext cx="2194560" cy="1005840"/>
          </a:xfrm>
          <a:prstGeom prst="rect">
            <a:avLst/>
          </a:prstGeom>
          <a:solidFill>
            <a:srgbClr val="FFEED9"/>
          </a:solidFill>
          <a:ln w="15875">
            <a:solidFill>
              <a:srgbClr val="F28C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00" b="0">
                <a:solidFill>
                  <a:srgbClr val="1F2937"/>
                </a:solidFill>
                <a:latin typeface="Microsoft YaHei"/>
                <a:ea typeface="Microsoft YaHei"/>
              </a:rPr>
              <a:t>@Tool play(query)</a:t>
            </a:r>
          </a:p>
          <a:p>
            <a:pPr algn="l"/>
            <a:r>
              <a:rPr sz="1000" b="0">
                <a:solidFill>
                  <a:srgbClr val="1F2937"/>
                </a:solidFill>
                <a:latin typeface="Microsoft YaHei"/>
                <a:ea typeface="Microsoft YaHei"/>
              </a:rPr>
              <a:t>@Tool setVolume(level)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0" y="1371600"/>
            <a:ext cx="3291840" cy="365760"/>
          </a:xfrm>
          <a:prstGeom prst="rect">
            <a:avLst/>
          </a:prstGeom>
          <a:solidFill>
            <a:srgbClr val="D93C3C"/>
          </a:solidFill>
          <a:ln w="15875">
            <a:solidFill>
              <a:srgbClr val="D93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SafetyPolicy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0" y="1737360"/>
            <a:ext cx="3291840" cy="822960"/>
          </a:xfrm>
          <a:prstGeom prst="rect">
            <a:avLst/>
          </a:prstGeom>
          <a:solidFill>
            <a:srgbClr val="FBE3E3"/>
          </a:solidFill>
          <a:ln w="15875">
            <a:solidFill>
              <a:srgbClr val="D93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000" b="0">
                <a:solidFill>
                  <a:srgbClr val="1F2937"/>
                </a:solidFill>
                <a:latin typeface="Microsoft YaHei"/>
                <a:ea typeface="Microsoft YaHei"/>
              </a:rPr>
              <a:t>+ check(toolName, args, carContext)</a:t>
            </a:r>
          </a:p>
          <a:p>
            <a:pPr algn="l"/>
            <a:r>
              <a:rPr sz="1000" b="0">
                <a:solidFill>
                  <a:srgbClr val="1F2937"/>
                </a:solidFill>
                <a:latin typeface="Microsoft YaHei"/>
                <a:ea typeface="Microsoft YaHei"/>
              </a:rPr>
              <a:t>    : Decision  (beforeToolCallback)</a:t>
            </a:r>
          </a:p>
        </p:txBody>
      </p:sp>
      <p:cxnSp>
        <p:nvCxnSpPr>
          <p:cNvPr id="22" name="Connector 21"/>
          <p:cNvCxnSpPr/>
          <p:nvPr/>
        </p:nvCxnSpPr>
        <p:spPr>
          <a:xfrm flipH="1">
            <a:off x="3474720" y="1920240"/>
            <a:ext cx="731520" cy="0"/>
          </a:xfrm>
          <a:prstGeom prst="line">
            <a:avLst/>
          </a:prstGeom>
          <a:ln w="19050">
            <a:solidFill>
              <a:srgbClr val="2E6FD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3474720" y="1600200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0">
                <a:solidFill>
                  <a:srgbClr val="2E6FD6"/>
                </a:solidFill>
                <a:latin typeface="Microsoft YaHei"/>
                <a:ea typeface="Microsoft YaHei"/>
              </a:rPr>
              <a:t>model</a:t>
            </a:r>
          </a:p>
        </p:txBody>
      </p:sp>
      <p:cxnSp>
        <p:nvCxnSpPr>
          <p:cNvPr id="24" name="Connector 23"/>
          <p:cNvCxnSpPr/>
          <p:nvPr/>
        </p:nvCxnSpPr>
        <p:spPr>
          <a:xfrm flipV="1">
            <a:off x="2011680" y="2560320"/>
            <a:ext cx="0" cy="548640"/>
          </a:xfrm>
          <a:prstGeom prst="line">
            <a:avLst/>
          </a:prstGeom>
          <a:ln w="19050">
            <a:solidFill>
              <a:srgbClr val="7B4FC9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2103120" y="2697480"/>
            <a:ext cx="13716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7B4FC9"/>
                </a:solidFill>
                <a:latin typeface="Microsoft YaHei"/>
                <a:ea typeface="Microsoft YaHei"/>
              </a:rPr>
              <a:t>implements</a:t>
            </a:r>
          </a:p>
        </p:txBody>
      </p:sp>
      <p:cxnSp>
        <p:nvCxnSpPr>
          <p:cNvPr id="26" name="Connector 25"/>
          <p:cNvCxnSpPr/>
          <p:nvPr/>
        </p:nvCxnSpPr>
        <p:spPr>
          <a:xfrm flipV="1">
            <a:off x="5394960" y="2834640"/>
            <a:ext cx="274320" cy="731520"/>
          </a:xfrm>
          <a:prstGeom prst="line">
            <a:avLst/>
          </a:prstGeom>
          <a:ln w="19050">
            <a:solidFill>
              <a:srgbClr val="F28C2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H="1" flipV="1">
            <a:off x="5669280" y="2834640"/>
            <a:ext cx="2285999" cy="731520"/>
          </a:xfrm>
          <a:prstGeom prst="line">
            <a:avLst/>
          </a:prstGeom>
          <a:ln w="19050">
            <a:solidFill>
              <a:srgbClr val="F28C2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H="1" flipV="1">
            <a:off x="5669280" y="2834640"/>
            <a:ext cx="4754880" cy="731520"/>
          </a:xfrm>
          <a:prstGeom prst="line">
            <a:avLst/>
          </a:prstGeom>
          <a:ln w="19050">
            <a:solidFill>
              <a:srgbClr val="F28C2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5760720" y="3063240"/>
            <a:ext cx="3200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F28C28"/>
                </a:solidFill>
                <a:latin typeface="Microsoft YaHei"/>
                <a:ea typeface="Microsoft YaHei"/>
              </a:rPr>
              <a:t>tools = xxx.generatedTools()  (KSP 生成)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132320" y="1737360"/>
            <a:ext cx="1097280" cy="0"/>
          </a:xfrm>
          <a:prstGeom prst="line">
            <a:avLst/>
          </a:prstGeom>
          <a:ln w="19050">
            <a:solidFill>
              <a:srgbClr val="D93C3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548640" y="5212080"/>
            <a:ext cx="1106424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1F3A5F"/>
                </a:solidFill>
                <a:latin typeface="Microsoft YaHei"/>
                <a:ea typeface="Microsoft YaHei"/>
              </a:rPr>
              <a:t>关键实现点：</a:t>
            </a:r>
          </a:p>
          <a:p>
            <a:pPr algn="l">
              <a:lnSpc>
                <a:spcPct val="110000"/>
              </a:lnSpc>
            </a:pPr>
            <a:r>
              <a:rPr sz="1100" b="0">
                <a:solidFill>
                  <a:srgbClr val="1F3A5F"/>
                </a:solidFill>
                <a:latin typeface="Microsoft YaHei"/>
                <a:ea typeface="Microsoft YaHei"/>
              </a:rPr>
              <a:t>① AIBoxModel : Model —— 替换 Gemini(...)；将 ADK LlmRequest(含 tools schema) 转为 OpenAI chat/completions，再把 tool_calls / content 转回 LlmResponse</a:t>
            </a:r>
          </a:p>
          <a:p>
            <a:pPr algn="l">
              <a:lnSpc>
                <a:spcPct val="110000"/>
              </a:lnSpc>
            </a:pPr>
            <a:r>
              <a:rPr sz="1100" b="0">
                <a:solidFill>
                  <a:srgbClr val="1F3A5F"/>
                </a:solidFill>
                <a:latin typeface="Microsoft YaHei"/>
                <a:ea typeface="Microsoft YaHei"/>
              </a:rPr>
              <a:t>② Session —— 用 ADK SessionService 保存多轮历史，按驾驶员账号隔离</a:t>
            </a:r>
          </a:p>
          <a:p>
            <a:pPr algn="l">
              <a:lnSpc>
                <a:spcPct val="110000"/>
              </a:lnSpc>
            </a:pPr>
            <a:r>
              <a:rPr sz="1100" b="0">
                <a:solidFill>
                  <a:srgbClr val="1F3A5F"/>
                </a:solidFill>
                <a:latin typeface="Microsoft YaHei"/>
                <a:ea typeface="Microsoft YaHei"/>
              </a:rPr>
              <a:t>③ 动态 Instruction —— 每次注入车况快照：“车速 60km/h、档位 D、车内 28℃、导航中”，让模型少问多做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914400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FFFFFF"/>
                </a:solidFill>
                <a:latin typeface="Microsoft YaHei"/>
                <a:ea typeface="Microsoft YaHei"/>
              </a:rPr>
              <a:t>4.3 AIBox 通信层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6B7280"/>
                </a:solidFill>
                <a:latin typeface="Microsoft YaHei"/>
                <a:ea typeface="Microsoft YaHei"/>
              </a:rPr>
              <a:t>设备发现 → 状态机 → 客户端；协议标准化为 OpenAI 兼容 API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6B7280"/>
                </a:solidFill>
                <a:latin typeface="Microsoft YaHei"/>
                <a:ea typeface="Microsoft YaHei"/>
              </a:rPr>
              <a:t>Android 车机 AI 集成架构方案 · ADK Kotlin + 可插拔 AIBox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92240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6B7280"/>
                </a:solidFill>
                <a:latin typeface="Microsoft YaHei"/>
                <a:ea typeface="Microsoft YaHei"/>
              </a:rPr>
              <a:t>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463040"/>
            <a:ext cx="3108960" cy="2377440"/>
          </a:xfrm>
          <a:prstGeom prst="roundRect">
            <a:avLst>
              <a:gd name="adj" fmla="val 4000"/>
            </a:avLst>
          </a:prstGeom>
          <a:solidFill>
            <a:srgbClr val="ECE4F9"/>
          </a:solidFill>
          <a:ln w="12700">
            <a:solidFill>
              <a:srgbClr val="7B4FC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490472"/>
            <a:ext cx="292608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7B4FC9"/>
                </a:solidFill>
                <a:latin typeface="Microsoft YaHei"/>
                <a:ea typeface="Microsoft YaHei"/>
              </a:rPr>
              <a:t>设备发现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828800"/>
            <a:ext cx="2743200" cy="5486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7B4F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00" b="1">
                <a:solidFill>
                  <a:srgbClr val="1F2937"/>
                </a:solidFill>
                <a:latin typeface="Microsoft YaHei"/>
                <a:ea typeface="Microsoft YaHei"/>
              </a:rPr>
              <a:t>UsbManager</a:t>
            </a:r>
          </a:p>
          <a:p>
            <a:pPr algn="ctr"/>
            <a:r>
              <a:rPr sz="800" b="0">
                <a:solidFill>
                  <a:srgbClr val="1F2937"/>
                </a:solidFill>
                <a:latin typeface="Microsoft YaHei"/>
                <a:ea typeface="Microsoft YaHei"/>
              </a:rPr>
              <a:t>ATTACHED / DETACHED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468880"/>
            <a:ext cx="2743200" cy="5486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7B4F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00" b="1">
                <a:solidFill>
                  <a:srgbClr val="1F2937"/>
                </a:solidFill>
                <a:latin typeface="Microsoft YaHei"/>
                <a:ea typeface="Microsoft YaHei"/>
              </a:rPr>
              <a:t>ConnectivityManager</a:t>
            </a:r>
          </a:p>
          <a:p>
            <a:pPr algn="ctr"/>
            <a:r>
              <a:rPr sz="800" b="0">
                <a:solidFill>
                  <a:srgbClr val="1F2937"/>
                </a:solidFill>
                <a:latin typeface="Microsoft YaHei"/>
                <a:ea typeface="Microsoft YaHei"/>
              </a:rPr>
              <a:t>以太网接口 up/down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108960"/>
            <a:ext cx="2743200" cy="5486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7B4F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00" b="1">
                <a:solidFill>
                  <a:srgbClr val="1F2937"/>
                </a:solidFill>
                <a:latin typeface="Microsoft YaHei"/>
                <a:ea typeface="Microsoft YaHei"/>
              </a:rPr>
              <a:t>NsdManager (mDNS)</a:t>
            </a:r>
          </a:p>
          <a:p>
            <a:pPr algn="ctr"/>
            <a:r>
              <a:rPr sz="800" b="0">
                <a:solidFill>
                  <a:srgbClr val="1F2937"/>
                </a:solidFill>
                <a:latin typeface="Microsoft YaHei"/>
                <a:ea typeface="Microsoft YaHei"/>
              </a:rPr>
              <a:t>_aibox._tcp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0" y="2286000"/>
            <a:ext cx="1828800" cy="822960"/>
          </a:xfrm>
          <a:prstGeom prst="roundRect">
            <a:avLst/>
          </a:prstGeom>
          <a:solidFill>
            <a:srgbClr val="DCEAFB"/>
          </a:solidFill>
          <a:ln w="15875">
            <a:solidFill>
              <a:srgbClr val="2E6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00" b="1">
                <a:solidFill>
                  <a:srgbClr val="1F2937"/>
                </a:solidFill>
                <a:latin typeface="Microsoft YaHei"/>
                <a:ea typeface="Microsoft YaHei"/>
              </a:rPr>
              <a:t>AIBox 状态机</a:t>
            </a:r>
          </a:p>
          <a:p>
            <a:pPr algn="ctr"/>
            <a:r>
              <a:rPr sz="900" b="0">
                <a:solidFill>
                  <a:srgbClr val="1F2937"/>
                </a:solidFill>
                <a:latin typeface="Microsoft YaHei"/>
                <a:ea typeface="Microsoft YaHei"/>
              </a:rPr>
              <a:t>Absent→Ready→Busy…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474720" y="2103120"/>
            <a:ext cx="822960" cy="594360"/>
          </a:xfrm>
          <a:prstGeom prst="line">
            <a:avLst/>
          </a:prstGeom>
          <a:ln w="19050">
            <a:solidFill>
              <a:srgbClr val="7B4FC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3474720" y="2697480"/>
            <a:ext cx="822960" cy="45720"/>
          </a:xfrm>
          <a:prstGeom prst="line">
            <a:avLst/>
          </a:prstGeom>
          <a:ln w="19050">
            <a:solidFill>
              <a:srgbClr val="7B4FC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3474720" y="2697480"/>
            <a:ext cx="822960" cy="685799"/>
          </a:xfrm>
          <a:prstGeom prst="line">
            <a:avLst/>
          </a:prstGeom>
          <a:ln w="19050">
            <a:solidFill>
              <a:srgbClr val="7B4FC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766560" y="1463040"/>
            <a:ext cx="3108960" cy="2377440"/>
          </a:xfrm>
          <a:prstGeom prst="roundRect">
            <a:avLst>
              <a:gd name="adj" fmla="val 4000"/>
            </a:avLst>
          </a:prstGeom>
          <a:solidFill>
            <a:srgbClr val="DCEAFB"/>
          </a:solidFill>
          <a:ln w="12700">
            <a:solidFill>
              <a:srgbClr val="2E6FD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0" y="1490472"/>
            <a:ext cx="292608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2E6FD6"/>
                </a:solidFill>
                <a:latin typeface="Microsoft YaHei"/>
                <a:ea typeface="Microsoft YaHei"/>
              </a:rPr>
              <a:t>客户端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949440" y="1828800"/>
            <a:ext cx="2743200" cy="8229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E6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00" b="1">
                <a:solidFill>
                  <a:srgbClr val="1F2937"/>
                </a:solidFill>
                <a:latin typeface="Microsoft YaHei"/>
                <a:ea typeface="Microsoft YaHei"/>
              </a:rPr>
              <a:t>OkHttp + SSE</a:t>
            </a:r>
          </a:p>
          <a:p>
            <a:pPr algn="ctr"/>
            <a:r>
              <a:rPr sz="800" b="0">
                <a:solidFill>
                  <a:srgbClr val="1F2937"/>
                </a:solidFill>
                <a:latin typeface="Microsoft YaHei"/>
                <a:ea typeface="Microsoft YaHei"/>
              </a:rPr>
              <a:t>OpenAI 兼容 / 流式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949440" y="2834640"/>
            <a:ext cx="2743200" cy="8229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E6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00" b="1">
                <a:solidFill>
                  <a:srgbClr val="1F2937"/>
                </a:solidFill>
                <a:latin typeface="Microsoft YaHei"/>
                <a:ea typeface="Microsoft YaHei"/>
              </a:rPr>
              <a:t>重试 / 超时 / 取消</a:t>
            </a:r>
          </a:p>
          <a:p>
            <a:pPr algn="ctr"/>
            <a:r>
              <a:rPr sz="800" b="0">
                <a:solidFill>
                  <a:srgbClr val="1F2937"/>
                </a:solidFill>
                <a:latin typeface="Microsoft YaHei"/>
                <a:ea typeface="Microsoft YaHei"/>
              </a:rPr>
              <a:t>(协程 Job)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126480" y="2697480"/>
            <a:ext cx="640080" cy="0"/>
          </a:xfrm>
          <a:prstGeom prst="line">
            <a:avLst/>
          </a:prstGeom>
          <a:ln w="25400">
            <a:solidFill>
              <a:srgbClr val="2E6FD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126480" y="2377440"/>
            <a:ext cx="64008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800" b="0">
                <a:solidFill>
                  <a:srgbClr val="2E9E6B"/>
                </a:solidFill>
                <a:latin typeface="Microsoft YaHei"/>
                <a:ea typeface="Microsoft YaHei"/>
              </a:rPr>
              <a:t>READY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0" y="1554480"/>
            <a:ext cx="2011680" cy="22860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1F3A5F"/>
                </a:solidFill>
                <a:latin typeface="Microsoft YaHei"/>
                <a:ea typeface="Microsoft YaHei"/>
              </a:rPr>
              <a:t>协议约定 (AIBox 侧实现)</a:t>
            </a:r>
          </a:p>
          <a:p>
            <a:pPr algn="l">
              <a:lnSpc>
                <a:spcPct val="110000"/>
              </a:lnSpc>
            </a:pPr>
            <a:r>
              <a:rPr sz="1000" b="0">
                <a:solidFill>
                  <a:srgbClr val="1F3A5F"/>
                </a:solidFill>
                <a:latin typeface="Microsoft YaHei"/>
                <a:ea typeface="Microsoft YaHei"/>
              </a:rPr>
              <a:t>GET /health</a:t>
            </a:r>
          </a:p>
          <a:p>
            <a:pPr algn="l">
              <a:lnSpc>
                <a:spcPct val="110000"/>
              </a:lnSpc>
            </a:pPr>
            <a:r>
              <a:rPr sz="1000" b="0">
                <a:solidFill>
                  <a:srgbClr val="1F3A5F"/>
                </a:solidFill>
                <a:latin typeface="Microsoft YaHei"/>
                <a:ea typeface="Microsoft YaHei"/>
              </a:rPr>
              <a:t>POST /v1/chat/completions</a:t>
            </a:r>
          </a:p>
          <a:p>
            <a:pPr algn="l">
              <a:lnSpc>
                <a:spcPct val="110000"/>
              </a:lnSpc>
            </a:pPr>
            <a:r>
              <a:rPr sz="1000" b="0">
                <a:solidFill>
                  <a:srgbClr val="1F3A5F"/>
                </a:solidFill>
                <a:latin typeface="Microsoft YaHei"/>
                <a:ea typeface="Microsoft YaHei"/>
              </a:rPr>
              <a:t>  (tools, stream=true)</a:t>
            </a:r>
          </a:p>
          <a:p>
            <a:pPr algn="l">
              <a:lnSpc>
                <a:spcPct val="110000"/>
              </a:lnSpc>
            </a:pPr>
            <a:r>
              <a:rPr sz="1000" b="0">
                <a:solidFill>
                  <a:srgbClr val="1F3A5F"/>
                </a:solidFill>
                <a:latin typeface="Microsoft YaHei"/>
                <a:ea typeface="Microsoft YaHei"/>
              </a:rPr>
              <a:t>GET /v1/models</a:t>
            </a:r>
          </a:p>
          <a:p>
            <a:pPr algn="l">
              <a:lnSpc>
                <a:spcPct val="110000"/>
              </a:lnSpc>
            </a:pPr>
            <a:r>
              <a:rPr sz="1000" b="0">
                <a:solidFill>
                  <a:srgbClr val="1F3A5F"/>
                </a:solidFill>
                <a:latin typeface="Microsoft YaHei"/>
                <a:ea typeface="Microsoft YaHei"/>
              </a:rPr>
              <a:t>POST /v1/audio/transcriptions (可选)</a:t>
            </a:r>
          </a:p>
        </p:txBody>
      </p:sp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548640" y="4114800"/>
          <a:ext cx="11064239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33034"/>
                <a:gridCol w="3302758"/>
                <a:gridCol w="4128447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物理链路</a:t>
                      </a:r>
                    </a:p>
                  </a:txBody>
                  <a:tcPr marL="73152" marR="73152" marT="36576" marB="36576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优点</a:t>
                      </a:r>
                    </a:p>
                  </a:txBody>
                  <a:tcPr marL="73152" marR="73152" marT="36576" marB="36576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缺点</a:t>
                      </a:r>
                    </a:p>
                  </a:txBody>
                  <a:tcPr marL="73152" marR="73152" marT="36576" marB="36576" anchor="ctr">
                    <a:solidFill>
                      <a:srgbClr val="1F3A5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USB-C (RNDIS / NCM 网卡模式)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供电 + 数据一体，带宽足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需车机 USB Host 支持网卡驱动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车载以太网 (100BASE-T1)</a:t>
                      </a:r>
                    </a:p>
                  </a:txBody>
                  <a:tcPr marL="73152" marR="73152" marT="36576" marB="36576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稳定、低延迟</a:t>
                      </a:r>
                    </a:p>
                  </a:txBody>
                  <a:tcPr marL="73152" marR="73152" marT="36576" marB="36576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需要硬件预留</a:t>
                      </a:r>
                    </a:p>
                  </a:txBody>
                  <a:tcPr marL="73152" marR="73152" marT="36576" marB="36576" anchor="ctr">
                    <a:solidFill>
                      <a:srgbClr val="F3F4F6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Wi-Fi P2P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无线便捷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干扰、功耗、配对复杂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914400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FFFFFF"/>
                </a:solidFill>
                <a:latin typeface="Microsoft YaHei"/>
                <a:ea typeface="Microsoft YaHei"/>
              </a:rPr>
              <a:t>4.4 Tools 执行层：安全校验流程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6B7280"/>
                </a:solidFill>
                <a:latin typeface="Microsoft YaHei"/>
                <a:ea typeface="Microsoft YaHei"/>
              </a:rPr>
              <a:t>LLM 输出参数视为不可信输入；按危险等级分级放行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6B7280"/>
                </a:solidFill>
                <a:latin typeface="Microsoft YaHei"/>
                <a:ea typeface="Microsoft YaHei"/>
              </a:rPr>
              <a:t>Android 车机 AI 集成架构方案 · ADK Kotlin + 可插拔 AIBox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92240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6B7280"/>
                </a:solidFill>
                <a:latin typeface="Microsoft YaHei"/>
                <a:ea typeface="Microsoft YaHei"/>
              </a:rPr>
              <a:t>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1554480"/>
            <a:ext cx="1554480" cy="685800"/>
          </a:xfrm>
          <a:prstGeom prst="roundRect">
            <a:avLst/>
          </a:prstGeom>
          <a:solidFill>
            <a:srgbClr val="ECE4F9"/>
          </a:solidFill>
          <a:ln w="15875">
            <a:solidFill>
              <a:srgbClr val="7B4F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00" b="1">
                <a:solidFill>
                  <a:srgbClr val="1F2937"/>
                </a:solidFill>
                <a:latin typeface="Microsoft YaHei"/>
                <a:ea typeface="Microsoft YaHei"/>
              </a:rPr>
              <a:t>LLM 返回</a:t>
            </a:r>
          </a:p>
          <a:p>
            <a:pPr algn="ctr"/>
            <a:r>
              <a:rPr sz="800" b="0">
                <a:solidFill>
                  <a:srgbClr val="1F2937"/>
                </a:solidFill>
                <a:latin typeface="Microsoft YaHei"/>
                <a:ea typeface="Microsoft YaHei"/>
              </a:rPr>
              <a:t>tool_call JSON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194560" y="1554480"/>
            <a:ext cx="1554480" cy="6858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00" b="1">
                <a:solidFill>
                  <a:srgbClr val="1F2937"/>
                </a:solidFill>
                <a:latin typeface="Microsoft YaHei"/>
                <a:ea typeface="Microsoft YaHei"/>
              </a:rPr>
              <a:t>参数反序列化</a:t>
            </a:r>
          </a:p>
          <a:p>
            <a:pPr algn="ctr"/>
            <a:r>
              <a:rPr sz="800" b="0">
                <a:solidFill>
                  <a:srgbClr val="1F2937"/>
                </a:solidFill>
                <a:latin typeface="Microsoft YaHei"/>
                <a:ea typeface="Microsoft YaHei"/>
              </a:rPr>
              <a:t>+ Schema 校验</a:t>
            </a:r>
          </a:p>
        </p:txBody>
      </p:sp>
      <p:sp>
        <p:nvSpPr>
          <p:cNvPr id="10" name="Diamond 9"/>
          <p:cNvSpPr/>
          <p:nvPr/>
        </p:nvSpPr>
        <p:spPr>
          <a:xfrm>
            <a:off x="4023360" y="1417320"/>
            <a:ext cx="1554480" cy="960120"/>
          </a:xfrm>
          <a:prstGeom prst="diamond">
            <a:avLst/>
          </a:prstGeom>
          <a:solidFill>
            <a:srgbClr val="F3F4F6"/>
          </a:solidFill>
          <a:ln w="1587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00" b="1">
                <a:solidFill>
                  <a:srgbClr val="1F2937"/>
                </a:solidFill>
                <a:latin typeface="Microsoft YaHei"/>
                <a:ea typeface="Microsoft YaHei"/>
              </a:rPr>
              <a:t>白名单?</a:t>
            </a:r>
          </a:p>
        </p:txBody>
      </p:sp>
      <p:sp>
        <p:nvSpPr>
          <p:cNvPr id="11" name="Diamond 10"/>
          <p:cNvSpPr/>
          <p:nvPr/>
        </p:nvSpPr>
        <p:spPr>
          <a:xfrm>
            <a:off x="5852160" y="1417320"/>
            <a:ext cx="1554480" cy="960120"/>
          </a:xfrm>
          <a:prstGeom prst="diamond">
            <a:avLst/>
          </a:prstGeom>
          <a:solidFill>
            <a:srgbClr val="F3F4F6"/>
          </a:solidFill>
          <a:ln w="1587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00" b="1">
                <a:solidFill>
                  <a:srgbClr val="1F2937"/>
                </a:solidFill>
                <a:latin typeface="Microsoft YaHei"/>
                <a:ea typeface="Microsoft YaHei"/>
              </a:rPr>
              <a:t>参数范围</a:t>
            </a:r>
          </a:p>
          <a:p>
            <a:pPr algn="ctr"/>
            <a:r>
              <a:rPr sz="800" b="0">
                <a:solidFill>
                  <a:srgbClr val="1F2937"/>
                </a:solidFill>
                <a:latin typeface="Microsoft YaHei"/>
                <a:ea typeface="Microsoft YaHei"/>
              </a:rPr>
              <a:t>合法?</a:t>
            </a:r>
          </a:p>
        </p:txBody>
      </p:sp>
      <p:sp>
        <p:nvSpPr>
          <p:cNvPr id="12" name="Diamond 11"/>
          <p:cNvSpPr/>
          <p:nvPr/>
        </p:nvSpPr>
        <p:spPr>
          <a:xfrm>
            <a:off x="7680960" y="1417320"/>
            <a:ext cx="1554480" cy="960120"/>
          </a:xfrm>
          <a:prstGeom prst="diamond">
            <a:avLst/>
          </a:prstGeom>
          <a:solidFill>
            <a:srgbClr val="F3F4F6"/>
          </a:solidFill>
          <a:ln w="1587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00" b="1">
                <a:solidFill>
                  <a:srgbClr val="1F2937"/>
                </a:solidFill>
                <a:latin typeface="Microsoft YaHei"/>
                <a:ea typeface="Microsoft YaHei"/>
              </a:rPr>
              <a:t>危险等级</a:t>
            </a:r>
          </a:p>
        </p:txBody>
      </p:sp>
      <p:sp>
        <p:nvSpPr>
          <p:cNvPr id="13" name="Diamond 12"/>
          <p:cNvSpPr/>
          <p:nvPr/>
        </p:nvSpPr>
        <p:spPr>
          <a:xfrm>
            <a:off x="7680960" y="3017520"/>
            <a:ext cx="1554480" cy="960120"/>
          </a:xfrm>
          <a:prstGeom prst="diamond">
            <a:avLst/>
          </a:prstGeom>
          <a:solidFill>
            <a:srgbClr val="F3F4F6"/>
          </a:solidFill>
          <a:ln w="1587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00" b="1">
                <a:solidFill>
                  <a:srgbClr val="1F2937"/>
                </a:solidFill>
                <a:latin typeface="Microsoft YaHei"/>
                <a:ea typeface="Microsoft YaHei"/>
              </a:rPr>
              <a:t>车速 &gt; 0?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80960" y="4572000"/>
            <a:ext cx="1554480" cy="685800"/>
          </a:xfrm>
          <a:prstGeom prst="roundRect">
            <a:avLst/>
          </a:prstGeom>
          <a:solidFill>
            <a:srgbClr val="FFEED9"/>
          </a:solidFill>
          <a:ln w="15875">
            <a:solidFill>
              <a:srgbClr val="F28C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00" b="1">
                <a:solidFill>
                  <a:srgbClr val="1F2937"/>
                </a:solidFill>
                <a:latin typeface="Microsoft YaHei"/>
                <a:ea typeface="Microsoft YaHei"/>
              </a:rPr>
              <a:t>语音 / UI</a:t>
            </a:r>
          </a:p>
          <a:p>
            <a:pPr algn="ctr"/>
            <a:r>
              <a:rPr sz="800" b="0">
                <a:solidFill>
                  <a:srgbClr val="1F2937"/>
                </a:solidFill>
                <a:latin typeface="Microsoft YaHei"/>
                <a:ea typeface="Microsoft YaHei"/>
              </a:rPr>
              <a:t>二次确认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937760" y="3657600"/>
            <a:ext cx="1554480" cy="685800"/>
          </a:xfrm>
          <a:prstGeom prst="roundRect">
            <a:avLst/>
          </a:prstGeom>
          <a:solidFill>
            <a:srgbClr val="FBE3E3"/>
          </a:solidFill>
          <a:ln w="15875">
            <a:solidFill>
              <a:srgbClr val="D93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00" b="1">
                <a:solidFill>
                  <a:srgbClr val="1F2937"/>
                </a:solidFill>
                <a:latin typeface="Microsoft YaHei"/>
                <a:ea typeface="Microsoft YaHei"/>
              </a:rPr>
              <a:t>拒绝</a:t>
            </a:r>
          </a:p>
          <a:p>
            <a:pPr algn="ctr"/>
            <a:r>
              <a:rPr sz="800" b="0">
                <a:solidFill>
                  <a:srgbClr val="1F2937"/>
                </a:solidFill>
                <a:latin typeface="Microsoft YaHei"/>
                <a:ea typeface="Microsoft YaHei"/>
              </a:rPr>
              <a:t>回填原因给 LLM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058400" y="4572000"/>
            <a:ext cx="1737360" cy="685800"/>
          </a:xfrm>
          <a:prstGeom prst="roundRect">
            <a:avLst/>
          </a:prstGeom>
          <a:solidFill>
            <a:srgbClr val="DFF3E8"/>
          </a:solidFill>
          <a:ln w="15875">
            <a:solidFill>
              <a:srgbClr val="2E9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00" b="1">
                <a:solidFill>
                  <a:srgbClr val="1F2937"/>
                </a:solidFill>
                <a:latin typeface="Microsoft YaHei"/>
                <a:ea typeface="Microsoft YaHei"/>
              </a:rPr>
              <a:t>执行</a:t>
            </a:r>
          </a:p>
          <a:p>
            <a:pPr algn="ctr"/>
            <a:r>
              <a:rPr sz="800" b="0">
                <a:solidFill>
                  <a:srgbClr val="1F2937"/>
                </a:solidFill>
                <a:latin typeface="Microsoft YaHei"/>
                <a:ea typeface="Microsoft YaHei"/>
              </a:rPr>
              <a:t>→ 结构化结果回填 LLM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920240" y="1897380"/>
            <a:ext cx="274320" cy="0"/>
          </a:xfrm>
          <a:prstGeom prst="line">
            <a:avLst/>
          </a:prstGeom>
          <a:ln w="19050">
            <a:solidFill>
              <a:srgbClr val="1F3A5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3749040" y="1897380"/>
            <a:ext cx="274320" cy="0"/>
          </a:xfrm>
          <a:prstGeom prst="line">
            <a:avLst/>
          </a:prstGeom>
          <a:ln w="19050">
            <a:solidFill>
              <a:srgbClr val="1F3A5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5577840" y="1897380"/>
            <a:ext cx="274320" cy="0"/>
          </a:xfrm>
          <a:prstGeom prst="line">
            <a:avLst/>
          </a:prstGeom>
          <a:ln w="19050">
            <a:solidFill>
              <a:srgbClr val="2E9E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349240" y="1600200"/>
            <a:ext cx="54864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0">
                <a:solidFill>
                  <a:srgbClr val="2E9E6B"/>
                </a:solidFill>
                <a:latin typeface="Microsoft YaHei"/>
                <a:ea typeface="Microsoft YaHei"/>
              </a:rPr>
              <a:t>是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406640" y="1897380"/>
            <a:ext cx="274320" cy="0"/>
          </a:xfrm>
          <a:prstGeom prst="line">
            <a:avLst/>
          </a:prstGeom>
          <a:ln w="19050">
            <a:solidFill>
              <a:srgbClr val="2E9E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7178040" y="1600200"/>
            <a:ext cx="54864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0">
                <a:solidFill>
                  <a:srgbClr val="2E9E6B"/>
                </a:solidFill>
                <a:latin typeface="Microsoft YaHei"/>
                <a:ea typeface="Microsoft YaHei"/>
              </a:rPr>
              <a:t>是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9235440" y="1897380"/>
            <a:ext cx="2057400" cy="2674620"/>
          </a:xfrm>
          <a:prstGeom prst="line">
            <a:avLst/>
          </a:prstGeom>
          <a:ln w="19050">
            <a:solidFill>
              <a:srgbClr val="2E9E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9784080" y="2377440"/>
            <a:ext cx="13716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0">
                <a:solidFill>
                  <a:srgbClr val="2E9E6B"/>
                </a:solidFill>
                <a:latin typeface="Microsoft YaHei"/>
                <a:ea typeface="Microsoft YaHei"/>
              </a:rPr>
              <a:t>L0 只读 / L1 舒适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4800600" y="2377440"/>
            <a:ext cx="411480" cy="1280160"/>
          </a:xfrm>
          <a:prstGeom prst="line">
            <a:avLst/>
          </a:prstGeom>
          <a:ln w="19050">
            <a:solidFill>
              <a:srgbClr val="D93C3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4206240" y="2743200"/>
            <a:ext cx="54864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0">
                <a:solidFill>
                  <a:srgbClr val="D93C3C"/>
                </a:solidFill>
                <a:latin typeface="Microsoft YaHei"/>
                <a:ea typeface="Microsoft YaHei"/>
              </a:rPr>
              <a:t>否</a:t>
            </a:r>
          </a:p>
        </p:txBody>
      </p:sp>
      <p:cxnSp>
        <p:nvCxnSpPr>
          <p:cNvPr id="27" name="Connector 26"/>
          <p:cNvCxnSpPr/>
          <p:nvPr/>
        </p:nvCxnSpPr>
        <p:spPr>
          <a:xfrm flipH="1">
            <a:off x="6035040" y="2377440"/>
            <a:ext cx="594360" cy="1280160"/>
          </a:xfrm>
          <a:prstGeom prst="line">
            <a:avLst/>
          </a:prstGeom>
          <a:ln w="19050">
            <a:solidFill>
              <a:srgbClr val="D93C3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6126480" y="2743200"/>
            <a:ext cx="54864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0">
                <a:solidFill>
                  <a:srgbClr val="D93C3C"/>
                </a:solidFill>
                <a:latin typeface="Microsoft YaHei"/>
                <a:ea typeface="Microsoft YaHei"/>
              </a:rPr>
              <a:t>否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8458200" y="2377440"/>
            <a:ext cx="0" cy="640080"/>
          </a:xfrm>
          <a:prstGeom prst="line">
            <a:avLst/>
          </a:prstGeom>
          <a:ln w="19050">
            <a:solidFill>
              <a:srgbClr val="F28C2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8503920" y="2514600"/>
            <a:ext cx="128016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0">
                <a:solidFill>
                  <a:srgbClr val="F28C28"/>
                </a:solidFill>
                <a:latin typeface="Microsoft YaHei"/>
                <a:ea typeface="Microsoft YaHei"/>
              </a:rPr>
              <a:t>L2 行车相关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9235440" y="3497580"/>
            <a:ext cx="1325880" cy="1074420"/>
          </a:xfrm>
          <a:prstGeom prst="line">
            <a:avLst/>
          </a:prstGeom>
          <a:ln w="19050">
            <a:solidFill>
              <a:srgbClr val="2E9E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9235440" y="3200400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0">
                <a:solidFill>
                  <a:srgbClr val="2E9E6B"/>
                </a:solidFill>
                <a:latin typeface="Microsoft YaHei"/>
                <a:ea typeface="Microsoft YaHei"/>
              </a:rPr>
              <a:t>否(停车)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8458200" y="3977640"/>
            <a:ext cx="0" cy="594360"/>
          </a:xfrm>
          <a:prstGeom prst="line">
            <a:avLst/>
          </a:prstGeom>
          <a:ln w="19050">
            <a:solidFill>
              <a:srgbClr val="F28C2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8503920" y="4114800"/>
            <a:ext cx="128016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0">
                <a:solidFill>
                  <a:srgbClr val="F28C28"/>
                </a:solidFill>
                <a:latin typeface="Microsoft YaHei"/>
                <a:ea typeface="Microsoft YaHei"/>
              </a:rPr>
              <a:t>是(行驶中)</a:t>
            </a:r>
          </a:p>
        </p:txBody>
      </p:sp>
      <p:cxnSp>
        <p:nvCxnSpPr>
          <p:cNvPr id="35" name="Connector 34"/>
          <p:cNvCxnSpPr/>
          <p:nvPr/>
        </p:nvCxnSpPr>
        <p:spPr>
          <a:xfrm flipH="1">
            <a:off x="7452360" y="2130552"/>
            <a:ext cx="685800" cy="0"/>
          </a:xfrm>
          <a:prstGeom prst="line">
            <a:avLst/>
          </a:prstGeom>
          <a:ln w="19050">
            <a:solidFill>
              <a:srgbClr val="D93C3C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7452360" y="2130552"/>
            <a:ext cx="0" cy="2944368"/>
          </a:xfrm>
          <a:prstGeom prst="line">
            <a:avLst/>
          </a:prstGeom>
          <a:ln w="19050">
            <a:solidFill>
              <a:srgbClr val="D93C3C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7452360" y="5074920"/>
            <a:ext cx="228600" cy="0"/>
          </a:xfrm>
          <a:prstGeom prst="line">
            <a:avLst/>
          </a:prstGeom>
          <a:ln w="19050">
            <a:solidFill>
              <a:srgbClr val="D93C3C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6583680" y="2926080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0">
                <a:solidFill>
                  <a:srgbClr val="D93C3C"/>
                </a:solidFill>
                <a:latin typeface="Microsoft YaHei"/>
                <a:ea typeface="Microsoft YaHei"/>
              </a:rPr>
              <a:t>L3 高危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9235440" y="4914900"/>
            <a:ext cx="822960" cy="0"/>
          </a:xfrm>
          <a:prstGeom prst="line">
            <a:avLst/>
          </a:prstGeom>
          <a:ln w="19050">
            <a:solidFill>
              <a:srgbClr val="2E9E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9235440" y="4617720"/>
            <a:ext cx="82296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0">
                <a:solidFill>
                  <a:srgbClr val="2E9E6B"/>
                </a:solidFill>
                <a:latin typeface="Microsoft YaHei"/>
                <a:ea typeface="Microsoft YaHei"/>
              </a:rPr>
              <a:t>确认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8458200" y="5257800"/>
            <a:ext cx="0" cy="320040"/>
          </a:xfrm>
          <a:prstGeom prst="line">
            <a:avLst/>
          </a:prstGeom>
          <a:ln w="19050">
            <a:solidFill>
              <a:srgbClr val="D93C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H="1">
            <a:off x="5715000" y="5577840"/>
            <a:ext cx="2743200" cy="0"/>
          </a:xfrm>
          <a:prstGeom prst="line">
            <a:avLst/>
          </a:prstGeom>
          <a:ln w="19050">
            <a:solidFill>
              <a:srgbClr val="D93C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5715000" y="4343400"/>
            <a:ext cx="0" cy="1234440"/>
          </a:xfrm>
          <a:prstGeom prst="line">
            <a:avLst/>
          </a:prstGeom>
          <a:ln w="19050">
            <a:solidFill>
              <a:srgbClr val="D93C3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6583680" y="5596128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0">
                <a:solidFill>
                  <a:srgbClr val="D93C3C"/>
                </a:solidFill>
                <a:latin typeface="Microsoft YaHei"/>
                <a:ea typeface="Microsoft YaHei"/>
              </a:rPr>
              <a:t>取消</a:t>
            </a:r>
          </a:p>
        </p:txBody>
      </p:sp>
      <p:graphicFrame>
        <p:nvGraphicFramePr>
          <p:cNvPr id="45" name="Table 44"/>
          <p:cNvGraphicFramePr>
            <a:graphicFrameLocks noGrp="1"/>
          </p:cNvGraphicFramePr>
          <p:nvPr/>
        </p:nvGraphicFramePr>
        <p:xfrm>
          <a:off x="365760" y="2651760"/>
          <a:ext cx="4389118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672"/>
                <a:gridCol w="2065468"/>
                <a:gridCol w="1376978"/>
              </a:tblGrid>
              <a:tr h="274320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等级</a:t>
                      </a:r>
                    </a:p>
                  </a:txBody>
                  <a:tcPr marL="73152" marR="73152" marT="36576" marB="36576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示例</a:t>
                      </a:r>
                    </a:p>
                  </a:txBody>
                  <a:tcPr marL="73152" marR="73152" marT="36576" marB="36576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策略</a:t>
                      </a:r>
                    </a:p>
                  </a:txBody>
                  <a:tcPr marL="73152" marR="73152" marT="36576" marB="36576" anchor="ctr">
                    <a:solidFill>
                      <a:srgbClr val="1F3A5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L0 只读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查油量、天气、时间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直接执行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L1 舒适</a:t>
                      </a:r>
                    </a:p>
                  </a:txBody>
                  <a:tcPr marL="73152" marR="73152" marT="36576" marB="36576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空调、座椅加热、音乐、音量</a:t>
                      </a:r>
                    </a:p>
                  </a:txBody>
                  <a:tcPr marL="73152" marR="73152" marT="36576" marB="36576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直接执行</a:t>
                      </a:r>
                    </a:p>
                  </a:txBody>
                  <a:tcPr marL="73152" marR="73152" marT="36576" marB="36576" anchor="ctr">
                    <a:solidFill>
                      <a:srgbClr val="F3F4F6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L2 行车相关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车窗、天窗、后备箱、导航变更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行驶中需确认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900" b="1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L3 高危</a:t>
                      </a:r>
                    </a:p>
                  </a:txBody>
                  <a:tcPr marL="73152" marR="73152" marT="36576" marB="36576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车门解锁、支付、删除数据</a:t>
                      </a:r>
                    </a:p>
                  </a:txBody>
                  <a:tcPr marL="73152" marR="73152" marT="36576" marB="36576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始终确认 + 身份校验</a:t>
                      </a:r>
                    </a:p>
                  </a:txBody>
                  <a:tcPr marL="73152" marR="73152" marT="36576" marB="36576" anchor="ctr"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46" name="TextBox 45"/>
          <p:cNvSpPr txBox="1"/>
          <p:nvPr/>
        </p:nvSpPr>
        <p:spPr>
          <a:xfrm>
            <a:off x="365760" y="4297680"/>
            <a:ext cx="4389120" cy="1645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1F3A5F"/>
                </a:solidFill>
                <a:latin typeface="Microsoft YaHei"/>
                <a:ea typeface="Microsoft YaHei"/>
              </a:rPr>
              <a:t>4.5 输出层要点</a:t>
            </a:r>
          </a:p>
          <a:p>
            <a:pPr algn="l">
              <a:lnSpc>
                <a:spcPct val="110000"/>
              </a:lnSpc>
            </a:pPr>
            <a:r>
              <a:rPr sz="1000" b="0">
                <a:solidFill>
                  <a:srgbClr val="1F3A5F"/>
                </a:solidFill>
                <a:latin typeface="Microsoft YaHei"/>
                <a:ea typeface="Microsoft YaHei"/>
              </a:rPr>
              <a:t>• 流式 TTS：LLM 每输出一个句子片段即送 TTS，首字延迟 &lt; 1s</a:t>
            </a:r>
          </a:p>
          <a:p>
            <a:pPr algn="l">
              <a:lnSpc>
                <a:spcPct val="110000"/>
              </a:lnSpc>
            </a:pPr>
            <a:r>
              <a:rPr sz="1000" b="0">
                <a:solidFill>
                  <a:srgbClr val="1F3A5F"/>
                </a:solidFill>
                <a:latin typeface="Microsoft YaHei"/>
                <a:ea typeface="Microsoft YaHei"/>
              </a:rPr>
              <a:t>• UI 卡片：Tool 结果渲染为结构化卡片（导航路线、歌曲封面）</a:t>
            </a:r>
          </a:p>
          <a:p>
            <a:pPr algn="l">
              <a:lnSpc>
                <a:spcPct val="110000"/>
              </a:lnSpc>
            </a:pPr>
            <a:r>
              <a:rPr sz="1000" b="0">
                <a:solidFill>
                  <a:srgbClr val="1F3A5F"/>
                </a:solidFill>
                <a:latin typeface="Microsoft YaHei"/>
                <a:ea typeface="Microsoft YaHei"/>
              </a:rPr>
              <a:t>• 打断机制：方向盘按键 / 新唤醒 → Job.cancel() 同时取消 LLM 请求与 TTS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914400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FFFFFF"/>
                </a:solidFill>
                <a:latin typeface="Microsoft YaHei"/>
                <a:ea typeface="Microsoft YaHei"/>
              </a:rPr>
              <a:t>5. AIBox 热插拔状态机 &amp; 降级路由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6B7280"/>
                </a:solidFill>
                <a:latin typeface="Microsoft YaHei"/>
                <a:ea typeface="Microsoft YaHei"/>
              </a:rPr>
              <a:t>“插拔式”意味着必须处理“不在线”场景；降级层同样实现 Model 接口，Agent 无需感知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6B7280"/>
                </a:solidFill>
                <a:latin typeface="Microsoft YaHei"/>
                <a:ea typeface="Microsoft YaHei"/>
              </a:rPr>
              <a:t>Android 车机 AI 集成架构方案 · ADK Kotlin + 可插拔 AIBox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92240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6B7280"/>
                </a:solidFill>
                <a:latin typeface="Microsoft YaHei"/>
                <a:ea typeface="Microsoft YaHei"/>
              </a:rPr>
              <a:t>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743200"/>
            <a:ext cx="1463040" cy="548640"/>
          </a:xfrm>
          <a:prstGeom prst="roundRect">
            <a:avLst/>
          </a:prstGeom>
          <a:solidFill>
            <a:srgbClr val="F3F4F6"/>
          </a:solidFill>
          <a:ln w="1587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00" b="1">
                <a:solidFill>
                  <a:srgbClr val="1F2937"/>
                </a:solidFill>
                <a:latin typeface="Microsoft YaHei"/>
                <a:ea typeface="Microsoft YaHei"/>
              </a:rPr>
              <a:t>Absent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286000" y="2743200"/>
            <a:ext cx="1463040" cy="548640"/>
          </a:xfrm>
          <a:prstGeom prst="roundRect">
            <a:avLst/>
          </a:prstGeom>
          <a:solidFill>
            <a:srgbClr val="DCEAFB"/>
          </a:solidFill>
          <a:ln w="15875">
            <a:solidFill>
              <a:srgbClr val="2E6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00" b="1">
                <a:solidFill>
                  <a:srgbClr val="1F2937"/>
                </a:solidFill>
                <a:latin typeface="Microsoft YaHei"/>
                <a:ea typeface="Microsoft YaHei"/>
              </a:rPr>
              <a:t>Attached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0" y="2743200"/>
            <a:ext cx="1463040" cy="548640"/>
          </a:xfrm>
          <a:prstGeom prst="roundRect">
            <a:avLst/>
          </a:prstGeom>
          <a:solidFill>
            <a:srgbClr val="DCEAFB"/>
          </a:solidFill>
          <a:ln w="15875">
            <a:solidFill>
              <a:srgbClr val="2E6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00" b="1">
                <a:solidFill>
                  <a:srgbClr val="1F2937"/>
                </a:solidFill>
                <a:latin typeface="Microsoft YaHei"/>
                <a:ea typeface="Microsoft YaHei"/>
              </a:rPr>
              <a:t>Booting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0" y="2743200"/>
            <a:ext cx="1463040" cy="548640"/>
          </a:xfrm>
          <a:prstGeom prst="roundRect">
            <a:avLst/>
          </a:prstGeom>
          <a:solidFill>
            <a:srgbClr val="DFF3E8"/>
          </a:solidFill>
          <a:ln w="15875">
            <a:solidFill>
              <a:srgbClr val="2E9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00" b="1">
                <a:solidFill>
                  <a:srgbClr val="1F2937"/>
                </a:solidFill>
                <a:latin typeface="Microsoft YaHei"/>
                <a:ea typeface="Microsoft YaHei"/>
              </a:rPr>
              <a:t>Ready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0" y="1463040"/>
            <a:ext cx="1463040" cy="548640"/>
          </a:xfrm>
          <a:prstGeom prst="roundRect">
            <a:avLst/>
          </a:prstGeom>
          <a:solidFill>
            <a:srgbClr val="DFF3E8"/>
          </a:solidFill>
          <a:ln w="15875">
            <a:solidFill>
              <a:srgbClr val="2E9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00" b="1">
                <a:solidFill>
                  <a:srgbClr val="1F2937"/>
                </a:solidFill>
                <a:latin typeface="Microsoft YaHei"/>
                <a:ea typeface="Microsoft YaHei"/>
              </a:rPr>
              <a:t>Busy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0" y="4023360"/>
            <a:ext cx="1463040" cy="548640"/>
          </a:xfrm>
          <a:prstGeom prst="roundRect">
            <a:avLst/>
          </a:prstGeom>
          <a:solidFill>
            <a:srgbClr val="FFEED9"/>
          </a:solidFill>
          <a:ln w="15875">
            <a:solidFill>
              <a:srgbClr val="F28C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00" b="1">
                <a:solidFill>
                  <a:srgbClr val="1F2937"/>
                </a:solidFill>
                <a:latin typeface="Microsoft YaHei"/>
                <a:ea typeface="Microsoft YaHei"/>
              </a:rPr>
              <a:t>Degraded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14800" y="4023360"/>
            <a:ext cx="1463040" cy="548640"/>
          </a:xfrm>
          <a:prstGeom prst="roundRect">
            <a:avLst/>
          </a:prstGeom>
          <a:solidFill>
            <a:srgbClr val="FBE3E3"/>
          </a:solidFill>
          <a:ln w="15875">
            <a:solidFill>
              <a:srgbClr val="D93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00" b="1">
                <a:solidFill>
                  <a:srgbClr val="1F2937"/>
                </a:solidFill>
                <a:latin typeface="Microsoft YaHei"/>
                <a:ea typeface="Microsoft YaHei"/>
              </a:rPr>
              <a:t>Error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920240" y="3017520"/>
            <a:ext cx="365760" cy="0"/>
          </a:xfrm>
          <a:prstGeom prst="line">
            <a:avLst/>
          </a:prstGeom>
          <a:ln w="19050">
            <a:solidFill>
              <a:srgbClr val="1F3A5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280160" y="2743200"/>
            <a:ext cx="16459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850" b="0">
                <a:solidFill>
                  <a:srgbClr val="1F3A5F"/>
                </a:solidFill>
                <a:latin typeface="Microsoft YaHei"/>
                <a:ea typeface="Microsoft YaHei"/>
              </a:rPr>
              <a:t>检测到设备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749040" y="3017520"/>
            <a:ext cx="365760" cy="0"/>
          </a:xfrm>
          <a:prstGeom prst="line">
            <a:avLst/>
          </a:prstGeom>
          <a:ln w="19050">
            <a:solidFill>
              <a:srgbClr val="1F3A5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3108960" y="2743200"/>
            <a:ext cx="16459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850" b="0">
                <a:solidFill>
                  <a:srgbClr val="1F3A5F"/>
                </a:solidFill>
                <a:latin typeface="Microsoft YaHei"/>
                <a:ea typeface="Microsoft YaHei"/>
              </a:rPr>
              <a:t>建立链路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577840" y="3017520"/>
            <a:ext cx="365760" cy="0"/>
          </a:xfrm>
          <a:prstGeom prst="line">
            <a:avLst/>
          </a:prstGeom>
          <a:ln w="19050">
            <a:solidFill>
              <a:srgbClr val="2E9E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4937760" y="2743200"/>
            <a:ext cx="16459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850" b="0">
                <a:solidFill>
                  <a:srgbClr val="2E9E6B"/>
                </a:solidFill>
                <a:latin typeface="Microsoft YaHei"/>
                <a:ea typeface="Microsoft YaHei"/>
              </a:rPr>
              <a:t>/health 模型已加载</a:t>
            </a:r>
          </a:p>
        </p:txBody>
      </p:sp>
      <p:cxnSp>
        <p:nvCxnSpPr>
          <p:cNvPr id="21" name="Connector 20"/>
          <p:cNvCxnSpPr/>
          <p:nvPr/>
        </p:nvCxnSpPr>
        <p:spPr>
          <a:xfrm flipV="1">
            <a:off x="6400800" y="2011680"/>
            <a:ext cx="0" cy="731520"/>
          </a:xfrm>
          <a:prstGeom prst="line">
            <a:avLst/>
          </a:prstGeom>
          <a:ln w="19050">
            <a:solidFill>
              <a:srgbClr val="1F3A5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5577840" y="2103120"/>
            <a:ext cx="16459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850" b="0">
                <a:solidFill>
                  <a:srgbClr val="1F3A5F"/>
                </a:solidFill>
                <a:latin typeface="Microsoft YaHei"/>
                <a:ea typeface="Microsoft YaHei"/>
              </a:rPr>
              <a:t>请求中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949440" y="2011680"/>
            <a:ext cx="0" cy="731520"/>
          </a:xfrm>
          <a:prstGeom prst="line">
            <a:avLst/>
          </a:prstGeom>
          <a:ln w="19050">
            <a:solidFill>
              <a:srgbClr val="2E9E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126480" y="2103120"/>
            <a:ext cx="16459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850" b="0">
                <a:solidFill>
                  <a:srgbClr val="2E9E6B"/>
                </a:solidFill>
                <a:latin typeface="Microsoft YaHei"/>
                <a:ea typeface="Microsoft YaHei"/>
              </a:rPr>
              <a:t>完成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400800" y="3291840"/>
            <a:ext cx="0" cy="731520"/>
          </a:xfrm>
          <a:prstGeom prst="line">
            <a:avLst/>
          </a:prstGeom>
          <a:ln w="19050">
            <a:solidFill>
              <a:srgbClr val="F28C2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5577840" y="3383280"/>
            <a:ext cx="16459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850" b="0">
                <a:solidFill>
                  <a:srgbClr val="F28C28"/>
                </a:solidFill>
                <a:latin typeface="Microsoft YaHei"/>
                <a:ea typeface="Microsoft YaHei"/>
              </a:rPr>
              <a:t>心跳失败×3</a:t>
            </a:r>
          </a:p>
        </p:txBody>
      </p:sp>
      <p:cxnSp>
        <p:nvCxnSpPr>
          <p:cNvPr id="27" name="Connector 26"/>
          <p:cNvCxnSpPr/>
          <p:nvPr/>
        </p:nvCxnSpPr>
        <p:spPr>
          <a:xfrm flipV="1">
            <a:off x="6949440" y="3291840"/>
            <a:ext cx="0" cy="731520"/>
          </a:xfrm>
          <a:prstGeom prst="line">
            <a:avLst/>
          </a:prstGeom>
          <a:ln w="19050">
            <a:solidFill>
              <a:srgbClr val="2E9E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6126480" y="3383280"/>
            <a:ext cx="16459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850" b="0">
                <a:solidFill>
                  <a:srgbClr val="2E9E6B"/>
                </a:solidFill>
                <a:latin typeface="Microsoft YaHei"/>
                <a:ea typeface="Microsoft YaHei"/>
              </a:rPr>
              <a:t>心跳恢复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4572000" y="3291840"/>
            <a:ext cx="0" cy="731520"/>
          </a:xfrm>
          <a:prstGeom prst="line">
            <a:avLst/>
          </a:prstGeom>
          <a:ln w="19050">
            <a:solidFill>
              <a:srgbClr val="D93C3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3749040" y="3383280"/>
            <a:ext cx="16459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850" b="0">
                <a:solidFill>
                  <a:srgbClr val="D93C3C"/>
                </a:solidFill>
                <a:latin typeface="Microsoft YaHei"/>
                <a:ea typeface="Microsoft YaHei"/>
              </a:rPr>
              <a:t>超时/加载失败</a:t>
            </a:r>
          </a:p>
        </p:txBody>
      </p:sp>
      <p:cxnSp>
        <p:nvCxnSpPr>
          <p:cNvPr id="31" name="Connector 30"/>
          <p:cNvCxnSpPr/>
          <p:nvPr/>
        </p:nvCxnSpPr>
        <p:spPr>
          <a:xfrm flipV="1">
            <a:off x="5120640" y="3291840"/>
            <a:ext cx="0" cy="731520"/>
          </a:xfrm>
          <a:prstGeom prst="line">
            <a:avLst/>
          </a:prstGeom>
          <a:ln w="19050">
            <a:solidFill>
              <a:srgbClr val="1F3A5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4297680" y="3383280"/>
            <a:ext cx="16459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850" b="0">
                <a:solidFill>
                  <a:srgbClr val="1F3A5F"/>
                </a:solidFill>
                <a:latin typeface="Microsoft YaHei"/>
                <a:ea typeface="Microsoft YaHei"/>
              </a:rPr>
              <a:t>重试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675120" y="4572000"/>
            <a:ext cx="0" cy="457200"/>
          </a:xfrm>
          <a:prstGeom prst="line">
            <a:avLst/>
          </a:prstGeom>
          <a:ln w="19050">
            <a:solidFill>
              <a:srgbClr val="6B728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4846320" y="4572000"/>
            <a:ext cx="0" cy="457200"/>
          </a:xfrm>
          <a:prstGeom prst="line">
            <a:avLst/>
          </a:prstGeom>
          <a:ln w="19050">
            <a:solidFill>
              <a:srgbClr val="6B728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H="1">
            <a:off x="1188720" y="5029200"/>
            <a:ext cx="3657600" cy="0"/>
          </a:xfrm>
          <a:prstGeom prst="line">
            <a:avLst/>
          </a:prstGeom>
          <a:ln w="19050">
            <a:solidFill>
              <a:srgbClr val="6B728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H="1">
            <a:off x="4846320" y="5029200"/>
            <a:ext cx="1828800" cy="0"/>
          </a:xfrm>
          <a:prstGeom prst="line">
            <a:avLst/>
          </a:prstGeom>
          <a:ln w="19050">
            <a:solidFill>
              <a:srgbClr val="6B728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1188720" y="3291840"/>
            <a:ext cx="0" cy="1737360"/>
          </a:xfrm>
          <a:prstGeom prst="line">
            <a:avLst/>
          </a:prstGeom>
          <a:ln w="19050">
            <a:solidFill>
              <a:srgbClr val="6B728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1371600" y="5074920"/>
            <a:ext cx="45720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6B7280"/>
                </a:solidFill>
                <a:latin typeface="Microsoft YaHei"/>
                <a:ea typeface="Microsoft YaHei"/>
              </a:rPr>
              <a:t>任意状态检测到拔出 → Absent（Busy 时取消进行中请求）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1371600"/>
            <a:ext cx="45720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1F3A5F"/>
                </a:solidFill>
                <a:latin typeface="Microsoft YaHei"/>
                <a:ea typeface="Microsoft YaHei"/>
              </a:rPr>
              <a:t>AIBox 状态机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12480" y="1371600"/>
            <a:ext cx="36576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1F3A5F"/>
                </a:solidFill>
                <a:latin typeface="Microsoft YaHei"/>
                <a:ea typeface="Microsoft YaHei"/>
              </a:rPr>
              <a:t>降级路由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412480" y="1828800"/>
            <a:ext cx="3291840" cy="4572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00" b="1">
                <a:solidFill>
                  <a:srgbClr val="1F2937"/>
                </a:solidFill>
                <a:latin typeface="Microsoft YaHei"/>
                <a:ea typeface="Microsoft YaHei"/>
              </a:rPr>
              <a:t>UserRequest</a:t>
            </a:r>
          </a:p>
        </p:txBody>
      </p:sp>
      <p:sp>
        <p:nvSpPr>
          <p:cNvPr id="42" name="Diamond 41"/>
          <p:cNvSpPr/>
          <p:nvPr/>
        </p:nvSpPr>
        <p:spPr>
          <a:xfrm>
            <a:off x="8961119" y="2468880"/>
            <a:ext cx="2194560" cy="822960"/>
          </a:xfrm>
          <a:prstGeom prst="diamond">
            <a:avLst/>
          </a:prstGeom>
          <a:solidFill>
            <a:srgbClr val="F3F4F6"/>
          </a:solidFill>
          <a:ln w="1587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00" b="1">
                <a:solidFill>
                  <a:srgbClr val="1F2937"/>
                </a:solidFill>
                <a:latin typeface="Microsoft YaHei"/>
                <a:ea typeface="Microsoft YaHei"/>
              </a:rPr>
              <a:t>AIBox 状态?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772400" y="3566160"/>
            <a:ext cx="1554480" cy="640080"/>
          </a:xfrm>
          <a:prstGeom prst="roundRect">
            <a:avLst/>
          </a:prstGeom>
          <a:solidFill>
            <a:srgbClr val="DFF3E8"/>
          </a:solidFill>
          <a:ln w="15875">
            <a:solidFill>
              <a:srgbClr val="2E9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00" b="1">
                <a:solidFill>
                  <a:srgbClr val="1F2937"/>
                </a:solidFill>
                <a:latin typeface="Microsoft YaHei"/>
                <a:ea typeface="Microsoft YaHei"/>
              </a:rPr>
              <a:t>AIBox LLM</a:t>
            </a:r>
          </a:p>
          <a:p>
            <a:pPr algn="ctr"/>
            <a:r>
              <a:rPr sz="800" b="0">
                <a:solidFill>
                  <a:srgbClr val="1F2937"/>
                </a:solidFill>
                <a:latin typeface="Microsoft YaHei"/>
                <a:ea typeface="Microsoft YaHei"/>
              </a:rPr>
              <a:t>完整 Agent 能力</a:t>
            </a:r>
          </a:p>
        </p:txBody>
      </p:sp>
      <p:sp>
        <p:nvSpPr>
          <p:cNvPr id="44" name="Diamond 43"/>
          <p:cNvSpPr/>
          <p:nvPr/>
        </p:nvSpPr>
        <p:spPr>
          <a:xfrm>
            <a:off x="10149840" y="3474720"/>
            <a:ext cx="1554480" cy="822960"/>
          </a:xfrm>
          <a:prstGeom prst="diamond">
            <a:avLst/>
          </a:prstGeom>
          <a:solidFill>
            <a:srgbClr val="F3F4F6"/>
          </a:solidFill>
          <a:ln w="1587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00" b="1">
                <a:solidFill>
                  <a:srgbClr val="1F2937"/>
                </a:solidFill>
                <a:latin typeface="Microsoft YaHei"/>
                <a:ea typeface="Microsoft YaHei"/>
              </a:rPr>
              <a:t>有网络 &amp;</a:t>
            </a:r>
          </a:p>
          <a:p>
            <a:pPr algn="ctr"/>
            <a:r>
              <a:rPr sz="800" b="0">
                <a:solidFill>
                  <a:srgbClr val="1F2937"/>
                </a:solidFill>
                <a:latin typeface="Microsoft YaHei"/>
                <a:ea typeface="Microsoft YaHei"/>
              </a:rPr>
              <a:t>允许云端?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595359" y="4572000"/>
            <a:ext cx="1554480" cy="640080"/>
          </a:xfrm>
          <a:prstGeom prst="roundRect">
            <a:avLst/>
          </a:prstGeom>
          <a:solidFill>
            <a:srgbClr val="DCEAFB"/>
          </a:solidFill>
          <a:ln w="15875">
            <a:solidFill>
              <a:srgbClr val="2E6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00" b="1">
                <a:solidFill>
                  <a:srgbClr val="1F2937"/>
                </a:solidFill>
                <a:latin typeface="Microsoft YaHei"/>
                <a:ea typeface="Microsoft YaHei"/>
              </a:rPr>
              <a:t>云端 LLM</a:t>
            </a:r>
          </a:p>
          <a:p>
            <a:pPr algn="ctr"/>
            <a:r>
              <a:rPr sz="800" b="0">
                <a:solidFill>
                  <a:srgbClr val="1F2937"/>
                </a:solidFill>
                <a:latin typeface="Microsoft YaHei"/>
                <a:ea typeface="Microsoft YaHei"/>
              </a:rPr>
              <a:t>Gemini / OpenAI 兼容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0149840" y="4572000"/>
            <a:ext cx="1554480" cy="640080"/>
          </a:xfrm>
          <a:prstGeom prst="roundRect">
            <a:avLst/>
          </a:prstGeom>
          <a:solidFill>
            <a:srgbClr val="FFEED9"/>
          </a:solidFill>
          <a:ln w="15875">
            <a:solidFill>
              <a:srgbClr val="F28C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00" b="1">
                <a:solidFill>
                  <a:srgbClr val="1F2937"/>
                </a:solidFill>
                <a:latin typeface="Microsoft YaHei"/>
                <a:ea typeface="Microsoft YaHei"/>
              </a:rPr>
              <a:t>本地规则引擎</a:t>
            </a:r>
          </a:p>
          <a:p>
            <a:pPr algn="ctr"/>
            <a:r>
              <a:rPr sz="800" b="0">
                <a:solidFill>
                  <a:srgbClr val="1F2937"/>
                </a:solidFill>
                <a:latin typeface="Microsoft YaHei"/>
                <a:ea typeface="Microsoft YaHei"/>
              </a:rPr>
              <a:t>关键词 → 直接映射 Tool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0149840" y="5486400"/>
            <a:ext cx="1554480" cy="548640"/>
          </a:xfrm>
          <a:prstGeom prst="roundRect">
            <a:avLst/>
          </a:prstGeom>
          <a:solidFill>
            <a:srgbClr val="FBE3E3"/>
          </a:solidFill>
          <a:ln w="15875">
            <a:solidFill>
              <a:srgbClr val="D93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900" b="1">
                <a:solidFill>
                  <a:srgbClr val="1F2937"/>
                </a:solidFill>
                <a:latin typeface="Microsoft YaHei"/>
                <a:ea typeface="Microsoft YaHei"/>
              </a:rPr>
              <a:t>提示：AI 盒子未连接</a:t>
            </a:r>
          </a:p>
          <a:p>
            <a:pPr algn="ctr"/>
            <a:r>
              <a:rPr sz="800" b="0">
                <a:solidFill>
                  <a:srgbClr val="1F2937"/>
                </a:solidFill>
                <a:latin typeface="Microsoft YaHei"/>
                <a:ea typeface="Microsoft YaHei"/>
              </a:rPr>
              <a:t>仅支持基础指令</a:t>
            </a:r>
          </a:p>
        </p:txBody>
      </p:sp>
      <p:cxnSp>
        <p:nvCxnSpPr>
          <p:cNvPr id="48" name="Connector 47"/>
          <p:cNvCxnSpPr/>
          <p:nvPr/>
        </p:nvCxnSpPr>
        <p:spPr>
          <a:xfrm flipH="1">
            <a:off x="10058399" y="2286000"/>
            <a:ext cx="1" cy="182880"/>
          </a:xfrm>
          <a:prstGeom prst="line">
            <a:avLst/>
          </a:prstGeom>
          <a:ln w="19050">
            <a:solidFill>
              <a:srgbClr val="1F3A5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H="1">
            <a:off x="8549640" y="2880360"/>
            <a:ext cx="411479" cy="685800"/>
          </a:xfrm>
          <a:prstGeom prst="line">
            <a:avLst/>
          </a:prstGeom>
          <a:ln w="19050">
            <a:solidFill>
              <a:srgbClr val="2E9E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7955279" y="3017520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0">
                <a:solidFill>
                  <a:srgbClr val="2E9E6B"/>
                </a:solidFill>
                <a:latin typeface="Microsoft YaHei"/>
                <a:ea typeface="Microsoft YaHei"/>
              </a:rPr>
              <a:t>Ready</a:t>
            </a:r>
          </a:p>
        </p:txBody>
      </p:sp>
      <p:cxnSp>
        <p:nvCxnSpPr>
          <p:cNvPr id="51" name="Connector 50"/>
          <p:cNvCxnSpPr/>
          <p:nvPr/>
        </p:nvCxnSpPr>
        <p:spPr>
          <a:xfrm flipH="1">
            <a:off x="10927080" y="2880360"/>
            <a:ext cx="228599" cy="594360"/>
          </a:xfrm>
          <a:prstGeom prst="line">
            <a:avLst/>
          </a:prstGeom>
          <a:ln w="19050">
            <a:solidFill>
              <a:srgbClr val="F28C2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10881359" y="3017520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0">
                <a:solidFill>
                  <a:srgbClr val="F28C28"/>
                </a:solidFill>
                <a:latin typeface="Microsoft YaHei"/>
                <a:ea typeface="Microsoft YaHei"/>
              </a:rPr>
              <a:t>非 Ready</a:t>
            </a:r>
          </a:p>
        </p:txBody>
      </p:sp>
      <p:cxnSp>
        <p:nvCxnSpPr>
          <p:cNvPr id="53" name="Connector 52"/>
          <p:cNvCxnSpPr/>
          <p:nvPr/>
        </p:nvCxnSpPr>
        <p:spPr>
          <a:xfrm flipH="1">
            <a:off x="9372599" y="3886200"/>
            <a:ext cx="777241" cy="685800"/>
          </a:xfrm>
          <a:prstGeom prst="line">
            <a:avLst/>
          </a:prstGeom>
          <a:ln w="19050">
            <a:solidFill>
              <a:srgbClr val="2E6FD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9509759" y="4206240"/>
            <a:ext cx="54864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0">
                <a:solidFill>
                  <a:srgbClr val="2E6FD6"/>
                </a:solidFill>
                <a:latin typeface="Microsoft YaHei"/>
                <a:ea typeface="Microsoft YaHei"/>
              </a:rPr>
              <a:t>是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10927080" y="4297680"/>
            <a:ext cx="0" cy="274320"/>
          </a:xfrm>
          <a:prstGeom prst="line">
            <a:avLst/>
          </a:prstGeom>
          <a:ln w="19050">
            <a:solidFill>
              <a:srgbClr val="F28C2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11064240" y="4297680"/>
            <a:ext cx="54864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0">
                <a:solidFill>
                  <a:srgbClr val="F28C28"/>
                </a:solidFill>
                <a:latin typeface="Microsoft YaHei"/>
                <a:ea typeface="Microsoft YaHei"/>
              </a:rPr>
              <a:t>否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10927080" y="5212080"/>
            <a:ext cx="0" cy="274320"/>
          </a:xfrm>
          <a:prstGeom prst="line">
            <a:avLst/>
          </a:prstGeom>
          <a:ln w="19050">
            <a:solidFill>
              <a:srgbClr val="D93C3C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11064240" y="5212080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0">
                <a:solidFill>
                  <a:srgbClr val="D93C3C"/>
                </a:solidFill>
                <a:latin typeface="Microsoft YaHei"/>
                <a:ea typeface="Microsoft YaHei"/>
              </a:rPr>
              <a:t>无法匹配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914400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FFFFFF"/>
                </a:solidFill>
                <a:latin typeface="Microsoft YaHei"/>
                <a:ea typeface="Microsoft YaHei"/>
              </a:rPr>
              <a:t>6. 安全与权限设计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6B7280"/>
                </a:solidFill>
                <a:latin typeface="Microsoft YaHei"/>
                <a:ea typeface="Microsoft YaHei"/>
              </a:rPr>
              <a:t>数据边界 · 控制面 · 链路安全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6B7280"/>
                </a:solidFill>
                <a:latin typeface="Microsoft YaHei"/>
                <a:ea typeface="Microsoft YaHei"/>
              </a:rPr>
              <a:t>Android 车机 AI 集成架构方案 · ADK Kotlin + 可插拔 AIBox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92240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6B7280"/>
                </a:solidFill>
                <a:latin typeface="Microsoft YaHei"/>
                <a:ea typeface="Microsoft YaHei"/>
              </a:rPr>
              <a:t>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463040"/>
            <a:ext cx="5669280" cy="2377440"/>
          </a:xfrm>
          <a:prstGeom prst="roundRect">
            <a:avLst>
              <a:gd name="adj" fmla="val 4000"/>
            </a:avLst>
          </a:prstGeom>
          <a:solidFill>
            <a:srgbClr val="F3F4F6"/>
          </a:solidFill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490472"/>
            <a:ext cx="54864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6B7280"/>
                </a:solidFill>
                <a:latin typeface="Microsoft YaHei"/>
                <a:ea typeface="Microsoft YaHei"/>
              </a:rPr>
              <a:t>数据边界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920240"/>
            <a:ext cx="2377440" cy="731520"/>
          </a:xfrm>
          <a:prstGeom prst="roundRect">
            <a:avLst/>
          </a:prstGeom>
          <a:solidFill>
            <a:srgbClr val="FBE3E3"/>
          </a:solidFill>
          <a:ln w="15875">
            <a:solidFill>
              <a:srgbClr val="D93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00" b="1">
                <a:solidFill>
                  <a:srgbClr val="1F2937"/>
                </a:solidFill>
                <a:latin typeface="Microsoft YaHei"/>
                <a:ea typeface="Microsoft YaHei"/>
              </a:rPr>
              <a:t>敏感数据</a:t>
            </a:r>
          </a:p>
          <a:p>
            <a:pPr algn="ctr"/>
            <a:r>
              <a:rPr sz="900" b="0">
                <a:solidFill>
                  <a:srgbClr val="1F2937"/>
                </a:solidFill>
                <a:latin typeface="Microsoft YaHei"/>
                <a:ea typeface="Microsoft YaHei"/>
              </a:rPr>
              <a:t>通讯录 / 精确位置 / 账号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926080"/>
            <a:ext cx="2377440" cy="731520"/>
          </a:xfrm>
          <a:prstGeom prst="roundRect">
            <a:avLst/>
          </a:prstGeom>
          <a:solidFill>
            <a:srgbClr val="DFF3E8"/>
          </a:solidFill>
          <a:ln w="15875">
            <a:solidFill>
              <a:srgbClr val="2E9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00" b="1">
                <a:solidFill>
                  <a:srgbClr val="1F2937"/>
                </a:solidFill>
                <a:latin typeface="Microsoft YaHei"/>
                <a:ea typeface="Microsoft YaHei"/>
              </a:rPr>
              <a:t>可外发数据</a:t>
            </a:r>
          </a:p>
          <a:p>
            <a:pPr algn="ctr"/>
            <a:r>
              <a:rPr sz="900" b="0">
                <a:solidFill>
                  <a:srgbClr val="1F2937"/>
                </a:solidFill>
                <a:latin typeface="Microsoft YaHei"/>
                <a:ea typeface="Microsoft YaHei"/>
              </a:rPr>
              <a:t>意图文本 / 脱敏车况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06240" y="1920240"/>
            <a:ext cx="1737360" cy="731520"/>
          </a:xfrm>
          <a:prstGeom prst="roundRect">
            <a:avLst/>
          </a:prstGeom>
          <a:solidFill>
            <a:srgbClr val="DCEAFB"/>
          </a:solidFill>
          <a:ln w="15875">
            <a:solidFill>
              <a:srgbClr val="2E6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>
                <a:solidFill>
                  <a:srgbClr val="1F2937"/>
                </a:solidFill>
                <a:latin typeface="Microsoft YaHei"/>
                <a:ea typeface="Microsoft YaHei"/>
              </a:rPr>
              <a:t>🚗 车机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06240" y="2926080"/>
            <a:ext cx="1737360" cy="731520"/>
          </a:xfrm>
          <a:prstGeom prst="roundRect">
            <a:avLst/>
          </a:prstGeom>
          <a:solidFill>
            <a:srgbClr val="ECE4F9"/>
          </a:solidFill>
          <a:ln w="15875">
            <a:solidFill>
              <a:srgbClr val="7B4F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>
                <a:solidFill>
                  <a:srgbClr val="1F2937"/>
                </a:solidFill>
                <a:latin typeface="Microsoft YaHei"/>
                <a:ea typeface="Microsoft YaHei"/>
              </a:rPr>
              <a:t>📦 AIBox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017520" y="2286000"/>
            <a:ext cx="1188720" cy="0"/>
          </a:xfrm>
          <a:prstGeom prst="line">
            <a:avLst/>
          </a:prstGeom>
          <a:ln w="19050">
            <a:solidFill>
              <a:srgbClr val="D93C3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3017520" y="1965960"/>
            <a:ext cx="11887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0">
                <a:solidFill>
                  <a:srgbClr val="D93C3C"/>
                </a:solidFill>
                <a:latin typeface="Microsoft YaHei"/>
                <a:ea typeface="Microsoft YaHei"/>
              </a:rPr>
              <a:t>仅车机内处理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017520" y="3291840"/>
            <a:ext cx="1188720" cy="0"/>
          </a:xfrm>
          <a:prstGeom prst="line">
            <a:avLst/>
          </a:prstGeom>
          <a:ln w="19050">
            <a:solidFill>
              <a:srgbClr val="2E9E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3017520" y="2971800"/>
            <a:ext cx="11887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0">
                <a:solidFill>
                  <a:srgbClr val="2E9E6B"/>
                </a:solidFill>
                <a:latin typeface="Microsoft YaHei"/>
                <a:ea typeface="Microsoft YaHei"/>
              </a:rPr>
              <a:t>发送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1463040"/>
            <a:ext cx="5303520" cy="2377440"/>
          </a:xfrm>
          <a:prstGeom prst="roundRect">
            <a:avLst>
              <a:gd name="adj" fmla="val 4000"/>
            </a:avLst>
          </a:prstGeom>
          <a:solidFill>
            <a:srgbClr val="FFEED9"/>
          </a:solidFill>
          <a:ln w="12700">
            <a:solidFill>
              <a:srgbClr val="F28C2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1490472"/>
            <a:ext cx="512064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F28C28"/>
                </a:solidFill>
                <a:latin typeface="Microsoft YaHei"/>
                <a:ea typeface="Microsoft YaHei"/>
              </a:rPr>
              <a:t>控制面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0" y="1920240"/>
            <a:ext cx="2377440" cy="7315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F28C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00" b="1">
                <a:solidFill>
                  <a:srgbClr val="1F2937"/>
                </a:solidFill>
                <a:latin typeface="Microsoft YaHei"/>
                <a:ea typeface="Microsoft YaHei"/>
              </a:rPr>
              <a:t>Tool 白名单</a:t>
            </a:r>
          </a:p>
          <a:p>
            <a:pPr algn="ctr"/>
            <a:r>
              <a:rPr sz="900" b="0">
                <a:solidFill>
                  <a:srgbClr val="1F2937"/>
                </a:solidFill>
                <a:latin typeface="Microsoft YaHei"/>
                <a:ea typeface="Microsoft YaHei"/>
              </a:rPr>
              <a:t>按车型/权限配置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44000" y="1920240"/>
            <a:ext cx="2377440" cy="7315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F28C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00" b="1">
                <a:solidFill>
                  <a:srgbClr val="1F2937"/>
                </a:solidFill>
                <a:latin typeface="Microsoft YaHei"/>
                <a:ea typeface="Microsoft YaHei"/>
              </a:rPr>
              <a:t>参数 Schema 校验</a:t>
            </a:r>
          </a:p>
          <a:p>
            <a:pPr algn="ctr"/>
            <a:r>
              <a:rPr sz="900" b="0">
                <a:solidFill>
                  <a:srgbClr val="1F2937"/>
                </a:solidFill>
                <a:latin typeface="Microsoft YaHei"/>
                <a:ea typeface="Microsoft YaHei"/>
              </a:rPr>
              <a:t>拒绝越界 / 注入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0" y="2834640"/>
            <a:ext cx="2377440" cy="7315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F28C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00" b="1">
                <a:solidFill>
                  <a:srgbClr val="1F2937"/>
                </a:solidFill>
                <a:latin typeface="Microsoft YaHei"/>
                <a:ea typeface="Microsoft YaHei"/>
              </a:rPr>
              <a:t>危险操作确认</a:t>
            </a:r>
          </a:p>
          <a:p>
            <a:pPr algn="ctr"/>
            <a:r>
              <a:rPr sz="900" b="0">
                <a:solidFill>
                  <a:srgbClr val="1F2937"/>
                </a:solidFill>
                <a:latin typeface="Microsoft YaHei"/>
                <a:ea typeface="Microsoft YaHei"/>
              </a:rPr>
              <a:t>L2 行驶中 / L3 始终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44000" y="2834640"/>
            <a:ext cx="2377440" cy="7315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F28C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00" b="1">
                <a:solidFill>
                  <a:srgbClr val="1F2937"/>
                </a:solidFill>
                <a:latin typeface="Microsoft YaHei"/>
                <a:ea typeface="Microsoft YaHei"/>
              </a:rPr>
              <a:t>审计日志</a:t>
            </a:r>
          </a:p>
          <a:p>
            <a:pPr algn="ctr"/>
            <a:r>
              <a:rPr sz="900" b="0">
                <a:solidFill>
                  <a:srgbClr val="1F2937"/>
                </a:solidFill>
                <a:latin typeface="Microsoft YaHei"/>
                <a:ea typeface="Microsoft YaHei"/>
              </a:rPr>
              <a:t>谁·何时·执行了什么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4114800"/>
            <a:ext cx="5669280" cy="1280160"/>
          </a:xfrm>
          <a:prstGeom prst="roundRect">
            <a:avLst>
              <a:gd name="adj" fmla="val 4000"/>
            </a:avLst>
          </a:prstGeom>
          <a:solidFill>
            <a:srgbClr val="ECE4F9"/>
          </a:solidFill>
          <a:ln w="12700">
            <a:solidFill>
              <a:srgbClr val="7B4FC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4142232"/>
            <a:ext cx="54864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7B4FC9"/>
                </a:solidFill>
                <a:latin typeface="Microsoft YaHei"/>
                <a:ea typeface="Microsoft YaHei"/>
              </a:rPr>
              <a:t>链路安全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4526280"/>
            <a:ext cx="2560320" cy="6858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7B4F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00" b="1">
                <a:solidFill>
                  <a:srgbClr val="1F2937"/>
                </a:solidFill>
                <a:latin typeface="Microsoft YaHei"/>
                <a:ea typeface="Microsoft YaHei"/>
              </a:rPr>
              <a:t>AIBox 设备鉴权</a:t>
            </a:r>
          </a:p>
          <a:p>
            <a:pPr algn="ctr"/>
            <a:r>
              <a:rPr sz="900" b="0">
                <a:solidFill>
                  <a:srgbClr val="1F2937"/>
                </a:solidFill>
                <a:latin typeface="Microsoft YaHei"/>
                <a:ea typeface="Microsoft YaHei"/>
              </a:rPr>
              <a:t>证书 / 配对码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383280" y="4526280"/>
            <a:ext cx="2560320" cy="6858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7B4F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00" b="1">
                <a:solidFill>
                  <a:srgbClr val="1F2937"/>
                </a:solidFill>
                <a:latin typeface="Microsoft YaHei"/>
                <a:ea typeface="Microsoft YaHei"/>
              </a:rPr>
              <a:t>传输加密</a:t>
            </a:r>
          </a:p>
          <a:p>
            <a:pPr algn="ctr"/>
            <a:r>
              <a:rPr sz="900" b="0">
                <a:solidFill>
                  <a:srgbClr val="1F2937"/>
                </a:solidFill>
                <a:latin typeface="Microsoft YaHei"/>
                <a:ea typeface="Microsoft YaHei"/>
              </a:rPr>
              <a:t>TLS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4114800"/>
            <a:ext cx="53035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1F2937"/>
                </a:solidFill>
                <a:latin typeface="Microsoft YaHei"/>
                <a:ea typeface="Microsoft YaHei"/>
              </a:rPr>
              <a:t>• Prompt 注入防护：LLM 输出参数视为不可信输入，一律做 Schema + 业务范围校验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1F2937"/>
                </a:solidFill>
                <a:latin typeface="Microsoft YaHei"/>
                <a:ea typeface="Microsoft YaHei"/>
              </a:rPr>
              <a:t>• 凭证管理：API Key 禁止硬编码进 APK（当前 HelloTimeAgent.kt 示例 Key 需移除并吊销）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1F2937"/>
                </a:solidFill>
                <a:latin typeface="Microsoft YaHei"/>
                <a:ea typeface="Microsoft YaHei"/>
              </a:rPr>
              <a:t>• 设备鉴权：只接受配对过的 AIBox，防止恶意设备伪装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1F2937"/>
                </a:solidFill>
                <a:latin typeface="Microsoft YaHei"/>
                <a:ea typeface="Microsoft YaHei"/>
              </a:rPr>
              <a:t>• 最小权限：Agent App 只申请必要的 Car.PERMISSION_*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914400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FFFFFF"/>
                </a:solidFill>
                <a:latin typeface="Microsoft YaHei"/>
                <a:ea typeface="Microsoft YaHei"/>
              </a:rPr>
              <a:t>7. 性能与时延优化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6B7280"/>
                </a:solidFill>
                <a:latin typeface="Microsoft YaHei"/>
                <a:ea typeface="Microsoft YaHei"/>
              </a:rPr>
              <a:t>目标：首字反馈 &lt; 2.5s（“调空调”场景时延分解）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6B7280"/>
                </a:solidFill>
                <a:latin typeface="Microsoft YaHei"/>
                <a:ea typeface="Microsoft YaHei"/>
              </a:rPr>
              <a:t>Android 车机 AI 集成架构方案 · ADK Kotlin + 可插拔 AIBox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92240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6B7280"/>
                </a:solidFill>
                <a:latin typeface="Microsoft YaHei"/>
                <a:ea typeface="Microsoft YaHei"/>
              </a:rP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554480"/>
            <a:ext cx="2194560" cy="38404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1F2937"/>
                </a:solidFill>
                <a:latin typeface="Microsoft YaHei"/>
                <a:ea typeface="Microsoft YaHei"/>
              </a:rPr>
              <a:t>ASR 识别</a:t>
            </a:r>
          </a:p>
        </p:txBody>
      </p:sp>
      <p:sp>
        <p:nvSpPr>
          <p:cNvPr id="9" name="Rectangle 8"/>
          <p:cNvSpPr/>
          <p:nvPr/>
        </p:nvSpPr>
        <p:spPr>
          <a:xfrm>
            <a:off x="3017520" y="1609344"/>
            <a:ext cx="1546167" cy="274320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09407" y="1554480"/>
            <a:ext cx="1097280" cy="38404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6B7280"/>
                </a:solidFill>
                <a:latin typeface="Microsoft YaHei"/>
                <a:ea typeface="Microsoft YaHei"/>
              </a:rPr>
              <a:t>400 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1938528"/>
            <a:ext cx="2194560" cy="38404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1F2937"/>
                </a:solidFill>
                <a:latin typeface="Microsoft YaHei"/>
                <a:ea typeface="Microsoft YaHei"/>
              </a:rPr>
              <a:t>组装 prompt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63687" y="1993392"/>
            <a:ext cx="193270" cy="274320"/>
          </a:xfrm>
          <a:prstGeom prst="rect">
            <a:avLst/>
          </a:prstGeom>
          <a:solidFill>
            <a:srgbClr val="2E6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2677" y="1938528"/>
            <a:ext cx="1097280" cy="38404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6B7280"/>
                </a:solidFill>
                <a:latin typeface="Microsoft YaHei"/>
                <a:ea typeface="Microsoft YaHei"/>
              </a:rPr>
              <a:t>50 ms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322576"/>
            <a:ext cx="2194560" cy="38404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1F2937"/>
                </a:solidFill>
                <a:latin typeface="Microsoft YaHei"/>
                <a:ea typeface="Microsoft YaHei"/>
              </a:rPr>
              <a:t>AIBox 推理 (tool_call)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756958" y="2377440"/>
            <a:ext cx="2512521" cy="274320"/>
          </a:xfrm>
          <a:prstGeom prst="rect">
            <a:avLst/>
          </a:prstGeom>
          <a:solidFill>
            <a:srgbClr val="7B4F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199" y="2322576"/>
            <a:ext cx="1097280" cy="38404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6B7280"/>
                </a:solidFill>
                <a:latin typeface="Microsoft YaHei"/>
                <a:ea typeface="Microsoft YaHei"/>
              </a:rPr>
              <a:t>650 ms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2706624"/>
            <a:ext cx="2194560" cy="38404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1F2937"/>
                </a:solidFill>
                <a:latin typeface="Microsoft YaHei"/>
                <a:ea typeface="Microsoft YaHei"/>
              </a:rPr>
              <a:t>策略校验 + 执行 Tool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269480" y="2761488"/>
            <a:ext cx="579812" cy="274320"/>
          </a:xfrm>
          <a:prstGeom prst="rect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95012" y="2706624"/>
            <a:ext cx="1097280" cy="38404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6B7280"/>
                </a:solidFill>
                <a:latin typeface="Microsoft YaHei"/>
                <a:ea typeface="Microsoft YaHei"/>
              </a:rPr>
              <a:t>150 ms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3090672"/>
            <a:ext cx="2194560" cy="38404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1F2937"/>
                </a:solidFill>
                <a:latin typeface="Microsoft YaHei"/>
                <a:ea typeface="Microsoft YaHei"/>
              </a:rPr>
              <a:t>AIBox 推理 (首 token)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849292" y="3145536"/>
            <a:ext cx="2125980" cy="274320"/>
          </a:xfrm>
          <a:prstGeom prst="rect">
            <a:avLst/>
          </a:prstGeom>
          <a:solidFill>
            <a:srgbClr val="7B4F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20992" y="3090672"/>
            <a:ext cx="1097280" cy="38404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6B7280"/>
                </a:solidFill>
                <a:latin typeface="Microsoft YaHei"/>
                <a:ea typeface="Microsoft YaHei"/>
              </a:rPr>
              <a:t>550 ms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3474720"/>
            <a:ext cx="2194560" cy="38404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1F2937"/>
                </a:solidFill>
                <a:latin typeface="Microsoft YaHei"/>
                <a:ea typeface="Microsoft YaHei"/>
              </a:rPr>
              <a:t>TTS 首字播报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975272" y="3529584"/>
            <a:ext cx="1546167" cy="274320"/>
          </a:xfrm>
          <a:prstGeom prst="rect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567159" y="3474720"/>
            <a:ext cx="1097280" cy="38404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6B7280"/>
                </a:solidFill>
                <a:latin typeface="Microsoft YaHei"/>
                <a:ea typeface="Microsoft YaHei"/>
              </a:rPr>
              <a:t>400 ms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3017520" y="3904488"/>
            <a:ext cx="8503920" cy="0"/>
          </a:xfrm>
          <a:prstGeom prst="line">
            <a:avLst/>
          </a:prstGeom>
          <a:ln w="1270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2651760" y="3922776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800" b="0">
                <a:solidFill>
                  <a:srgbClr val="6B7280"/>
                </a:solidFill>
                <a:latin typeface="Microsoft YaHei"/>
                <a:ea typeface="Microsoft YaHei"/>
              </a:rPr>
              <a:t>0ms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84469" y="3922776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800" b="0">
                <a:solidFill>
                  <a:srgbClr val="6B7280"/>
                </a:solidFill>
                <a:latin typeface="Microsoft YaHei"/>
                <a:ea typeface="Microsoft YaHei"/>
              </a:rPr>
              <a:t>500ms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17178" y="3922776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800" b="0">
                <a:solidFill>
                  <a:srgbClr val="6B7280"/>
                </a:solidFill>
                <a:latin typeface="Microsoft YaHei"/>
                <a:ea typeface="Microsoft YaHei"/>
              </a:rPr>
              <a:t>1000ms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49887" y="3922776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800" b="0">
                <a:solidFill>
                  <a:srgbClr val="6B7280"/>
                </a:solidFill>
                <a:latin typeface="Microsoft YaHei"/>
                <a:ea typeface="Microsoft YaHei"/>
              </a:rPr>
              <a:t>1500ms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382596" y="3922776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800" b="0">
                <a:solidFill>
                  <a:srgbClr val="6B7280"/>
                </a:solidFill>
                <a:latin typeface="Microsoft YaHei"/>
                <a:ea typeface="Microsoft YaHei"/>
              </a:rPr>
              <a:t>2000ms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731520" y="4343400"/>
          <a:ext cx="1078992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96640"/>
                <a:gridCol w="7193280"/>
              </a:tblGrid>
              <a:tr h="292608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优化手段</a:t>
                      </a:r>
                    </a:p>
                  </a:txBody>
                  <a:tcPr marL="73152" marR="73152" marT="36576" marB="36576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效果</a:t>
                      </a:r>
                    </a:p>
                  </a:txBody>
                  <a:tcPr marL="73152" marR="73152" marT="36576" marB="36576" anchor="ctr">
                    <a:solidFill>
                      <a:srgbClr val="1F3A5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流式输出 + 分句 TTS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首字反馈时间大幅降低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System Prompt KV Cache</a:t>
                      </a:r>
                    </a:p>
                  </a:txBody>
                  <a:tcPr marL="73152" marR="73152" marT="36576" marB="36576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AIBox 侧缓存固定 system prompt，减少 prefill</a:t>
                      </a:r>
                    </a:p>
                  </a:txBody>
                  <a:tcPr marL="73152" marR="73152" marT="36576" marB="36576" anchor="ctr">
                    <a:solidFill>
                      <a:srgbClr val="F3F4F6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简单指令跳过第 2 轮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L0/L1 工具可用模板直接播报“已调到 22 度”，省一次 LLM 调用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并行 Tool 执行 / Tool 结果精简</a:t>
                      </a:r>
                    </a:p>
                  </a:txBody>
                  <a:tcPr marL="73152" marR="73152" marT="36576" marB="36576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多个 tool_call 协程并发；只回填必要字段</a:t>
                      </a:r>
                    </a:p>
                  </a:txBody>
                  <a:tcPr marL="73152" marR="73152" marT="36576" marB="36576" anchor="ctr">
                    <a:solidFill>
                      <a:srgbClr val="F3F4F6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本地 ASR / 长连接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避免音频跨设备传输；AIBox Ready 时保持 keep-alive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914400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FFFFFF"/>
                </a:solidFill>
                <a:latin typeface="Microsoft YaHei"/>
                <a:ea typeface="Microsoft YaHei"/>
              </a:rPr>
              <a:t>8. 常见理解误区澄清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6B7280"/>
                </a:solidFill>
                <a:latin typeface="Microsoft YaHei"/>
                <a:ea typeface="Microsoft YaHei"/>
              </a:rPr>
              <a:t>原始理解 vs 修正后：核心差别在于“谁主导循环”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6B7280"/>
                </a:solidFill>
                <a:latin typeface="Microsoft YaHei"/>
                <a:ea typeface="Microsoft YaHei"/>
              </a:rPr>
              <a:t>Android 车机 AI 集成架构方案 · ADK Kotlin + 可插拔 AIBox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92240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6B7280"/>
                </a:solidFill>
                <a:latin typeface="Microsoft YaHei"/>
                <a:ea typeface="Microsoft YaHei"/>
              </a:rPr>
              <a:t>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463040"/>
            <a:ext cx="5120640" cy="3657600"/>
          </a:xfrm>
          <a:prstGeom prst="roundRect">
            <a:avLst>
              <a:gd name="adj" fmla="val 4000"/>
            </a:avLst>
          </a:prstGeom>
          <a:solidFill>
            <a:srgbClr val="FBE3E3"/>
          </a:solidFill>
          <a:ln w="12700">
            <a:solidFill>
              <a:srgbClr val="D93C3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490472"/>
            <a:ext cx="493776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D93C3C"/>
                </a:solidFill>
                <a:latin typeface="Microsoft YaHei"/>
                <a:ea typeface="Microsoft YaHei"/>
              </a:rPr>
              <a:t>❌ 原始理解（单向直线）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011680" y="1874519"/>
            <a:ext cx="2011680" cy="38404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00" b="1">
                <a:solidFill>
                  <a:srgbClr val="1F2937"/>
                </a:solidFill>
                <a:latin typeface="Microsoft YaHei"/>
                <a:ea typeface="Microsoft YaHei"/>
              </a:rPr>
              <a:t>输入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017520" y="2258567"/>
            <a:ext cx="0" cy="146304"/>
          </a:xfrm>
          <a:prstGeom prst="line">
            <a:avLst/>
          </a:prstGeom>
          <a:ln w="1905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011680" y="2404872"/>
            <a:ext cx="2011680" cy="38404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00" b="1">
                <a:solidFill>
                  <a:srgbClr val="1F2937"/>
                </a:solidFill>
                <a:latin typeface="Microsoft YaHei"/>
                <a:ea typeface="Microsoft YaHei"/>
              </a:rPr>
              <a:t>Agent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017520" y="2788920"/>
            <a:ext cx="0" cy="146304"/>
          </a:xfrm>
          <a:prstGeom prst="line">
            <a:avLst/>
          </a:prstGeom>
          <a:ln w="1905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011680" y="2935224"/>
            <a:ext cx="2011680" cy="38404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00" b="1">
                <a:solidFill>
                  <a:srgbClr val="1F2937"/>
                </a:solidFill>
                <a:latin typeface="Microsoft YaHei"/>
                <a:ea typeface="Microsoft YaHei"/>
              </a:rPr>
              <a:t>访问 AIBox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017520" y="3319272"/>
            <a:ext cx="0" cy="146304"/>
          </a:xfrm>
          <a:prstGeom prst="line">
            <a:avLst/>
          </a:prstGeom>
          <a:ln w="1905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2011680" y="3465575"/>
            <a:ext cx="2011680" cy="38404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00" b="1">
                <a:solidFill>
                  <a:srgbClr val="1F2937"/>
                </a:solidFill>
                <a:latin typeface="Microsoft YaHei"/>
                <a:ea typeface="Microsoft YaHei"/>
              </a:rPr>
              <a:t>AIBox 大模型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017520" y="3849623"/>
            <a:ext cx="0" cy="146304"/>
          </a:xfrm>
          <a:prstGeom prst="line">
            <a:avLst/>
          </a:prstGeom>
          <a:ln w="1905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2011680" y="3995927"/>
            <a:ext cx="2011680" cy="384048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D93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00" b="1">
                <a:solidFill>
                  <a:srgbClr val="1F2937"/>
                </a:solidFill>
                <a:latin typeface="Microsoft YaHei"/>
                <a:ea typeface="Microsoft YaHei"/>
              </a:rPr>
              <a:t>回调 Agent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3017520" y="4379975"/>
            <a:ext cx="0" cy="146304"/>
          </a:xfrm>
          <a:prstGeom prst="line">
            <a:avLst/>
          </a:prstGeom>
          <a:ln w="19050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2011680" y="4526279"/>
            <a:ext cx="2011680" cy="38404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00" b="1">
                <a:solidFill>
                  <a:srgbClr val="1F2937"/>
                </a:solidFill>
                <a:latin typeface="Microsoft YaHei"/>
                <a:ea typeface="Microsoft YaHei"/>
              </a:rPr>
              <a:t>Agent 执行 Tools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0" y="3840480"/>
            <a:ext cx="146304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>
                <a:solidFill>
                  <a:srgbClr val="D93C3C"/>
                </a:solidFill>
                <a:latin typeface="Microsoft YaHei"/>
                <a:ea typeface="Microsoft YaHei"/>
              </a:rPr>
              <a:t>LLM 不会主动回调！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0" y="1463040"/>
            <a:ext cx="5760720" cy="3657600"/>
          </a:xfrm>
          <a:prstGeom prst="roundRect">
            <a:avLst>
              <a:gd name="adj" fmla="val 4000"/>
            </a:avLst>
          </a:prstGeom>
          <a:solidFill>
            <a:srgbClr val="DFF3E8"/>
          </a:solidFill>
          <a:ln w="12700">
            <a:solidFill>
              <a:srgbClr val="2E9E6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35040" y="1490472"/>
            <a:ext cx="557784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2E9E6B"/>
                </a:solidFill>
                <a:latin typeface="Microsoft YaHei"/>
                <a:ea typeface="Microsoft YaHei"/>
              </a:rPr>
              <a:t>✅ 修正后（Agent 主导循环）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1920240"/>
            <a:ext cx="1463040" cy="4572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00" b="1">
                <a:solidFill>
                  <a:srgbClr val="1F2937"/>
                </a:solidFill>
                <a:latin typeface="Microsoft YaHei"/>
                <a:ea typeface="Microsoft YaHei"/>
              </a:rPr>
              <a:t>输入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55279" y="1920240"/>
            <a:ext cx="1645920" cy="4572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E6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00" b="1">
                <a:solidFill>
                  <a:srgbClr val="1F2937"/>
                </a:solidFill>
                <a:latin typeface="Microsoft YaHei"/>
                <a:ea typeface="Microsoft YaHei"/>
              </a:rPr>
              <a:t>Agent 组装 prompt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955279" y="2834640"/>
            <a:ext cx="1645920" cy="457200"/>
          </a:xfrm>
          <a:prstGeom prst="roundRect">
            <a:avLst/>
          </a:prstGeom>
          <a:solidFill>
            <a:srgbClr val="ECE4F9"/>
          </a:solidFill>
          <a:ln w="15875">
            <a:solidFill>
              <a:srgbClr val="7B4F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00" b="1">
                <a:solidFill>
                  <a:srgbClr val="1F2937"/>
                </a:solidFill>
                <a:latin typeface="Microsoft YaHei"/>
                <a:ea typeface="Microsoft YaHei"/>
              </a:rPr>
              <a:t>请求 AIBox</a:t>
            </a:r>
          </a:p>
        </p:txBody>
      </p:sp>
      <p:sp>
        <p:nvSpPr>
          <p:cNvPr id="27" name="Diamond 26"/>
          <p:cNvSpPr/>
          <p:nvPr/>
        </p:nvSpPr>
        <p:spPr>
          <a:xfrm>
            <a:off x="7863840" y="3566160"/>
            <a:ext cx="1828800" cy="822960"/>
          </a:xfrm>
          <a:prstGeom prst="diamond">
            <a:avLst/>
          </a:prstGeom>
          <a:solidFill>
            <a:srgbClr val="F3F4F6"/>
          </a:solidFill>
          <a:ln w="1587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100" b="1">
                <a:solidFill>
                  <a:srgbClr val="1F2937"/>
                </a:solidFill>
                <a:latin typeface="Microsoft YaHei"/>
                <a:ea typeface="Microsoft YaHei"/>
              </a:rPr>
              <a:t>响应类型?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17920" y="3749039"/>
            <a:ext cx="1463040" cy="548640"/>
          </a:xfrm>
          <a:prstGeom prst="roundRect">
            <a:avLst/>
          </a:prstGeom>
          <a:solidFill>
            <a:srgbClr val="FFEED9"/>
          </a:solidFill>
          <a:ln w="15875">
            <a:solidFill>
              <a:srgbClr val="F28C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00" b="1">
                <a:solidFill>
                  <a:srgbClr val="1F2937"/>
                </a:solidFill>
                <a:latin typeface="Microsoft YaHei"/>
                <a:ea typeface="Microsoft YaHei"/>
              </a:rPr>
              <a:t>Agent 校验</a:t>
            </a:r>
          </a:p>
          <a:p>
            <a:pPr algn="ctr"/>
            <a:r>
              <a:rPr sz="800" b="0">
                <a:solidFill>
                  <a:srgbClr val="1F2937"/>
                </a:solidFill>
                <a:latin typeface="Microsoft YaHei"/>
                <a:ea typeface="Microsoft YaHei"/>
              </a:rPr>
              <a:t>+ 执行 Tool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058400" y="3749039"/>
            <a:ext cx="1463040" cy="548640"/>
          </a:xfrm>
          <a:prstGeom prst="roundRect">
            <a:avLst/>
          </a:prstGeom>
          <a:solidFill>
            <a:srgbClr val="DFF3E8"/>
          </a:solidFill>
          <a:ln w="15875">
            <a:solidFill>
              <a:srgbClr val="2E9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000" b="1">
                <a:solidFill>
                  <a:srgbClr val="1F2937"/>
                </a:solidFill>
                <a:latin typeface="Microsoft YaHei"/>
                <a:ea typeface="Microsoft YaHei"/>
              </a:rPr>
              <a:t>输出</a:t>
            </a:r>
          </a:p>
          <a:p>
            <a:pPr algn="ctr"/>
            <a:r>
              <a:rPr sz="800" b="0">
                <a:solidFill>
                  <a:srgbClr val="1F2937"/>
                </a:solidFill>
                <a:latin typeface="Microsoft YaHei"/>
                <a:ea typeface="Microsoft YaHei"/>
              </a:rPr>
              <a:t>TTS / UI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680960" y="2148840"/>
            <a:ext cx="274319" cy="0"/>
          </a:xfrm>
          <a:prstGeom prst="line">
            <a:avLst/>
          </a:prstGeom>
          <a:ln w="19050">
            <a:solidFill>
              <a:srgbClr val="1F3A5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8778239" y="2377440"/>
            <a:ext cx="0" cy="457200"/>
          </a:xfrm>
          <a:prstGeom prst="line">
            <a:avLst/>
          </a:prstGeom>
          <a:ln w="19050">
            <a:solidFill>
              <a:srgbClr val="1F3A5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8778239" y="3291840"/>
            <a:ext cx="1" cy="274320"/>
          </a:xfrm>
          <a:prstGeom prst="line">
            <a:avLst/>
          </a:prstGeom>
          <a:ln w="19050">
            <a:solidFill>
              <a:srgbClr val="1F3A5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H="1">
            <a:off x="7680960" y="3977640"/>
            <a:ext cx="182880" cy="45719"/>
          </a:xfrm>
          <a:prstGeom prst="line">
            <a:avLst/>
          </a:prstGeom>
          <a:ln w="19050">
            <a:solidFill>
              <a:srgbClr val="F28C2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7543800" y="3840480"/>
            <a:ext cx="109728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0">
                <a:solidFill>
                  <a:srgbClr val="F28C28"/>
                </a:solidFill>
                <a:latin typeface="Microsoft YaHei"/>
                <a:ea typeface="Microsoft YaHei"/>
              </a:rPr>
              <a:t>tool_call JSON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9692640" y="3977640"/>
            <a:ext cx="365760" cy="45719"/>
          </a:xfrm>
          <a:prstGeom prst="line">
            <a:avLst/>
          </a:prstGeom>
          <a:ln w="19050">
            <a:solidFill>
              <a:srgbClr val="2E9E6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9601200" y="3840480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0">
                <a:solidFill>
                  <a:srgbClr val="2E9E6B"/>
                </a:solidFill>
                <a:latin typeface="Microsoft YaHei"/>
                <a:ea typeface="Microsoft YaHei"/>
              </a:rPr>
              <a:t>最终文本</a:t>
            </a:r>
          </a:p>
        </p:txBody>
      </p:sp>
      <p:cxnSp>
        <p:nvCxnSpPr>
          <p:cNvPr id="37" name="Connector 36"/>
          <p:cNvCxnSpPr/>
          <p:nvPr/>
        </p:nvCxnSpPr>
        <p:spPr>
          <a:xfrm flipV="1">
            <a:off x="6949440" y="3063240"/>
            <a:ext cx="0" cy="685799"/>
          </a:xfrm>
          <a:prstGeom prst="line">
            <a:avLst/>
          </a:prstGeom>
          <a:ln w="25400">
            <a:solidFill>
              <a:srgbClr val="7B4F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6949440" y="3063240"/>
            <a:ext cx="1005839" cy="0"/>
          </a:xfrm>
          <a:prstGeom prst="line">
            <a:avLst/>
          </a:prstGeom>
          <a:ln w="25400">
            <a:solidFill>
              <a:srgbClr val="7B4FC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6035040" y="3108960"/>
            <a:ext cx="192024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1">
                <a:solidFill>
                  <a:srgbClr val="7B4FC9"/>
                </a:solidFill>
                <a:latin typeface="Microsoft YaHei"/>
                <a:ea typeface="Microsoft YaHei"/>
              </a:rPr>
              <a:t>回填结果，再次请求 (循环 2~N 次)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17920" y="4572000"/>
            <a:ext cx="530352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2E9E6B"/>
                </a:solidFill>
                <a:latin typeface="Microsoft YaHei"/>
                <a:ea typeface="Microsoft YaHei"/>
              </a:rPr>
              <a:t>执行权与循环控制权都在车机侧 Agent；AIBox 只是推理引擎。</a:t>
            </a:r>
          </a:p>
        </p:txBody>
      </p:sp>
      <p:graphicFrame>
        <p:nvGraphicFramePr>
          <p:cNvPr id="41" name="Table 40"/>
          <p:cNvGraphicFramePr>
            <a:graphicFrameLocks noGrp="1"/>
          </p:cNvGraphicFramePr>
          <p:nvPr/>
        </p:nvGraphicFramePr>
        <p:xfrm>
          <a:off x="457200" y="5303520"/>
          <a:ext cx="11247119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7586"/>
                <a:gridCol w="3275860"/>
                <a:gridCol w="7643673"/>
              </a:tblGrid>
              <a:tr h="274320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#</a:t>
                      </a:r>
                    </a:p>
                  </a:txBody>
                  <a:tcPr marL="73152" marR="73152" marT="36576" marB="36576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原始理解</a:t>
                      </a:r>
                    </a:p>
                  </a:txBody>
                  <a:tcPr marL="73152" marR="73152" marT="36576" marB="36576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正确认知</a:t>
                      </a:r>
                    </a:p>
                  </a:txBody>
                  <a:tcPr marL="73152" marR="73152" marT="36576" marB="36576" anchor="ctr">
                    <a:solidFill>
                      <a:srgbClr val="1F3A5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1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“AIBox 回调 Agent”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LLM 是无状态被调用方，只返回 tool_call JSON；Agent 解析后自己执行并再次请求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2</a:t>
                      </a:r>
                    </a:p>
                  </a:txBody>
                  <a:tcPr marL="73152" marR="73152" marT="36576" marB="36576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流程是单向直线</a:t>
                      </a:r>
                    </a:p>
                  </a:txBody>
                  <a:tcPr marL="73152" marR="73152" marT="36576" marB="36576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实际是循环：一次请求 = 2~N 次 LLM 调用；超时/取消/打断按循环设计</a:t>
                      </a:r>
                    </a:p>
                  </a:txBody>
                  <a:tcPr marL="73152" marR="73152" marT="36576" marB="36576" anchor="ctr">
                    <a:solidFill>
                      <a:srgbClr val="F3F4F6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3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语音直接进 Agent / 未考虑插拔 / Tools 无门槛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需 ASR/TTS 环节；需状态机 + 降级；需白名单 + 校验 + 分级确认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914400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FFFFFF"/>
                </a:solidFill>
                <a:latin typeface="Microsoft YaHei"/>
                <a:ea typeface="Microsoft YaHei"/>
              </a:rPr>
              <a:t>9. 工程落地路线图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6B7280"/>
                </a:solidFill>
                <a:latin typeface="Microsoft YaHei"/>
                <a:ea typeface="Microsoft YaHei"/>
              </a:rPr>
              <a:t>四阶段推进，每阶段可独立验证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822960"/>
            <a:ext cx="12191695" cy="45720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6B7280"/>
                </a:solidFill>
                <a:latin typeface="Microsoft YaHei"/>
                <a:ea typeface="Microsoft YaHei"/>
              </a:rPr>
              <a:t>Android 车机 AI 集成架构方案 · ADK Kotlin + 可插拔 AIBox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92240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6B7280"/>
                </a:solidFill>
                <a:latin typeface="Microsoft YaHei"/>
                <a:ea typeface="Microsoft YaHei"/>
              </a:rPr>
              <a:t>16</a:t>
            </a:r>
          </a:p>
        </p:txBody>
      </p:sp>
      <p:sp>
        <p:nvSpPr>
          <p:cNvPr id="8" name="Pentagon 7"/>
          <p:cNvSpPr/>
          <p:nvPr/>
        </p:nvSpPr>
        <p:spPr>
          <a:xfrm>
            <a:off x="472287" y="1463040"/>
            <a:ext cx="2606040" cy="548640"/>
          </a:xfrm>
          <a:prstGeom prst="homePlate">
            <a:avLst/>
          </a:prstGeom>
          <a:solidFill>
            <a:srgbClr val="2E6FD6"/>
          </a:solidFill>
          <a:ln w="15875">
            <a:solidFill>
              <a:srgbClr val="2E6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</a:rPr>
              <a:t>阶段 1 · 打通链路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2287" y="2148840"/>
            <a:ext cx="2606040" cy="1737360"/>
          </a:xfrm>
          <a:prstGeom prst="roundRect">
            <a:avLst/>
          </a:prstGeom>
          <a:solidFill>
            <a:srgbClr val="DCEAFB"/>
          </a:solidFill>
          <a:ln w="15875">
            <a:solidFill>
              <a:srgbClr val="2E6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100" b="0">
                <a:solidFill>
                  <a:srgbClr val="1F2937"/>
                </a:solidFill>
                <a:latin typeface="Microsoft YaHei"/>
                <a:ea typeface="Microsoft YaHei"/>
              </a:rPr>
              <a:t/>
            </a:r>
          </a:p>
          <a:p>
            <a:pPr algn="l"/>
            <a:r>
              <a:rPr sz="900" b="0">
                <a:solidFill>
                  <a:srgbClr val="1F2937"/>
                </a:solidFill>
                <a:latin typeface="Microsoft YaHei"/>
                <a:ea typeface="Microsoft YaHei"/>
              </a:rPr>
              <a:t>• 实现 AIBoxModel : Model</a:t>
            </a:r>
          </a:p>
          <a:p>
            <a:pPr algn="l"/>
            <a:r>
              <a:rPr sz="900" b="0">
                <a:solidFill>
                  <a:srgbClr val="1F2937"/>
                </a:solidFill>
                <a:latin typeface="Microsoft YaHei"/>
                <a:ea typeface="Microsoft YaHei"/>
              </a:rPr>
              <a:t>• AIBox 跑起 OpenAI 兼容服务</a:t>
            </a:r>
          </a:p>
          <a:p>
            <a:pPr algn="l"/>
            <a:r>
              <a:rPr sz="900" b="0">
                <a:solidFill>
                  <a:srgbClr val="1F2937"/>
                </a:solidFill>
                <a:latin typeface="Microsoft YaHei"/>
                <a:ea typeface="Microsoft YaHei"/>
              </a:rPr>
              <a:t>• 复用 HelloTimeAgent 验证 tool-call 循环</a:t>
            </a:r>
          </a:p>
        </p:txBody>
      </p:sp>
      <p:sp>
        <p:nvSpPr>
          <p:cNvPr id="10" name="Chevron 9"/>
          <p:cNvSpPr/>
          <p:nvPr/>
        </p:nvSpPr>
        <p:spPr>
          <a:xfrm>
            <a:off x="3352647" y="1463040"/>
            <a:ext cx="2606040" cy="548640"/>
          </a:xfrm>
          <a:prstGeom prst="chevron">
            <a:avLst/>
          </a:prstGeom>
          <a:solidFill>
            <a:srgbClr val="F28C28"/>
          </a:solidFill>
          <a:ln w="15875">
            <a:solidFill>
              <a:srgbClr val="F28C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</a:rPr>
              <a:t>阶段 2 · 车控 Tools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2148840"/>
            <a:ext cx="2606040" cy="1737360"/>
          </a:xfrm>
          <a:prstGeom prst="roundRect">
            <a:avLst/>
          </a:prstGeom>
          <a:solidFill>
            <a:srgbClr val="FFEED9"/>
          </a:solidFill>
          <a:ln w="15875">
            <a:solidFill>
              <a:srgbClr val="F28C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100" b="0">
                <a:solidFill>
                  <a:srgbClr val="1F2937"/>
                </a:solidFill>
                <a:latin typeface="Microsoft YaHei"/>
                <a:ea typeface="Microsoft YaHei"/>
              </a:rPr>
              <a:t/>
            </a:r>
          </a:p>
          <a:p>
            <a:pPr algn="l"/>
            <a:r>
              <a:rPr sz="900" b="0">
                <a:solidFill>
                  <a:srgbClr val="1F2937"/>
                </a:solidFill>
                <a:latin typeface="Microsoft YaHei"/>
                <a:ea typeface="Microsoft YaHei"/>
              </a:rPr>
              <a:t>• CarPropertyManager 封装为 @Tool</a:t>
            </a:r>
          </a:p>
          <a:p>
            <a:pPr algn="l"/>
            <a:r>
              <a:rPr sz="900" b="0">
                <a:solidFill>
                  <a:srgbClr val="1F2937"/>
                </a:solidFill>
                <a:latin typeface="Microsoft YaHei"/>
                <a:ea typeface="Microsoft YaHei"/>
              </a:rPr>
              <a:t>• 导航 / 媒体 Tools</a:t>
            </a:r>
          </a:p>
          <a:p>
            <a:pPr algn="l"/>
            <a:r>
              <a:rPr sz="900" b="0">
                <a:solidFill>
                  <a:srgbClr val="1F2937"/>
                </a:solidFill>
                <a:latin typeface="Microsoft YaHei"/>
                <a:ea typeface="Microsoft YaHei"/>
              </a:rPr>
              <a:t>• 车况快照注入 prompt</a:t>
            </a:r>
          </a:p>
        </p:txBody>
      </p:sp>
      <p:sp>
        <p:nvSpPr>
          <p:cNvPr id="12" name="Chevron 11"/>
          <p:cNvSpPr/>
          <p:nvPr/>
        </p:nvSpPr>
        <p:spPr>
          <a:xfrm>
            <a:off x="6233007" y="1463040"/>
            <a:ext cx="2606040" cy="548640"/>
          </a:xfrm>
          <a:prstGeom prst="chevron">
            <a:avLst/>
          </a:prstGeom>
          <a:solidFill>
            <a:srgbClr val="7B4FC9"/>
          </a:solidFill>
          <a:ln w="15875">
            <a:solidFill>
              <a:srgbClr val="7B4F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</a:rPr>
              <a:t>阶段 3 · 热插拔 &amp; 降级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3007" y="2148840"/>
            <a:ext cx="2606040" cy="1737360"/>
          </a:xfrm>
          <a:prstGeom prst="roundRect">
            <a:avLst/>
          </a:prstGeom>
          <a:solidFill>
            <a:srgbClr val="ECE4F9"/>
          </a:solidFill>
          <a:ln w="15875">
            <a:solidFill>
              <a:srgbClr val="7B4F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100" b="0">
                <a:solidFill>
                  <a:srgbClr val="1F2937"/>
                </a:solidFill>
                <a:latin typeface="Microsoft YaHei"/>
                <a:ea typeface="Microsoft YaHei"/>
              </a:rPr>
              <a:t/>
            </a:r>
          </a:p>
          <a:p>
            <a:pPr algn="l"/>
            <a:r>
              <a:rPr sz="900" b="0">
                <a:solidFill>
                  <a:srgbClr val="1F2937"/>
                </a:solidFill>
                <a:latin typeface="Microsoft YaHei"/>
                <a:ea typeface="Microsoft YaHei"/>
              </a:rPr>
              <a:t>• USB / 网口发现 + 状态机</a:t>
            </a:r>
          </a:p>
          <a:p>
            <a:pPr algn="l"/>
            <a:r>
              <a:rPr sz="900" b="0">
                <a:solidFill>
                  <a:srgbClr val="1F2937"/>
                </a:solidFill>
                <a:latin typeface="Microsoft YaHei"/>
                <a:ea typeface="Microsoft YaHei"/>
              </a:rPr>
              <a:t>• 心跳 &amp; 重连</a:t>
            </a:r>
          </a:p>
          <a:p>
            <a:pPr algn="l"/>
            <a:r>
              <a:rPr sz="900" b="0">
                <a:solidFill>
                  <a:srgbClr val="1F2937"/>
                </a:solidFill>
                <a:latin typeface="Microsoft YaHei"/>
                <a:ea typeface="Microsoft YaHei"/>
              </a:rPr>
              <a:t>• 本地规则引擎降级</a:t>
            </a:r>
          </a:p>
        </p:txBody>
      </p:sp>
      <p:sp>
        <p:nvSpPr>
          <p:cNvPr id="14" name="Chevron 13"/>
          <p:cNvSpPr/>
          <p:nvPr/>
        </p:nvSpPr>
        <p:spPr>
          <a:xfrm>
            <a:off x="9113367" y="1463040"/>
            <a:ext cx="2606040" cy="548640"/>
          </a:xfrm>
          <a:prstGeom prst="chevron">
            <a:avLst/>
          </a:prstGeom>
          <a:solidFill>
            <a:srgbClr val="2E9E6B"/>
          </a:solidFill>
          <a:ln w="15875">
            <a:solidFill>
              <a:srgbClr val="2E9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</a:rPr>
              <a:t>阶段 4 · 安全 &amp; 体验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13367" y="2148840"/>
            <a:ext cx="2606040" cy="1737360"/>
          </a:xfrm>
          <a:prstGeom prst="roundRect">
            <a:avLst/>
          </a:prstGeom>
          <a:solidFill>
            <a:srgbClr val="DFF3E8"/>
          </a:solidFill>
          <a:ln w="15875">
            <a:solidFill>
              <a:srgbClr val="2E9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l"/>
            <a:r>
              <a:rPr sz="1100" b="0">
                <a:solidFill>
                  <a:srgbClr val="1F2937"/>
                </a:solidFill>
                <a:latin typeface="Microsoft YaHei"/>
                <a:ea typeface="Microsoft YaHei"/>
              </a:rPr>
              <a:t/>
            </a:r>
          </a:p>
          <a:p>
            <a:pPr algn="l"/>
            <a:r>
              <a:rPr sz="900" b="0">
                <a:solidFill>
                  <a:srgbClr val="1F2937"/>
                </a:solidFill>
                <a:latin typeface="Microsoft YaHei"/>
                <a:ea typeface="Microsoft YaHei"/>
              </a:rPr>
              <a:t>• 安全策略引擎 (分级确认)</a:t>
            </a:r>
          </a:p>
          <a:p>
            <a:pPr algn="l"/>
            <a:r>
              <a:rPr sz="900" b="0">
                <a:solidFill>
                  <a:srgbClr val="1F2937"/>
                </a:solidFill>
                <a:latin typeface="Microsoft YaHei"/>
                <a:ea typeface="Microsoft YaHei"/>
              </a:rPr>
              <a:t>• 流式 TTS + 打断</a:t>
            </a:r>
          </a:p>
          <a:p>
            <a:pPr algn="l"/>
            <a:r>
              <a:rPr sz="900" b="0">
                <a:solidFill>
                  <a:srgbClr val="1F2937"/>
                </a:solidFill>
                <a:latin typeface="Microsoft YaHei"/>
                <a:ea typeface="Microsoft YaHei"/>
              </a:rPr>
              <a:t>• 审计日志 / 设备鉴权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114800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1F3A5F"/>
                </a:solidFill>
                <a:latin typeface="Microsoft YaHei"/>
                <a:ea typeface="Microsoft YaHei"/>
              </a:rPr>
              <a:t>与当前工程的对应关系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457200" y="4526280"/>
          <a:ext cx="11247120" cy="18105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17670"/>
                <a:gridCol w="7029450"/>
              </a:tblGrid>
              <a:tr h="301752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当前文件</a:t>
                      </a:r>
                    </a:p>
                  </a:txBody>
                  <a:tcPr marL="73152" marR="73152" marT="36576" marB="36576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演进方向</a:t>
                      </a:r>
                    </a:p>
                  </a:txBody>
                  <a:tcPr marL="73152" marR="73152" marT="36576" marB="36576" anchor="ctr">
                    <a:solidFill>
                      <a:srgbClr val="1F3A5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HelloTimeAgent.kt → TimeService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拆分为 CarControlTools / NavigationTools / MediaTools，保持 @Tool 注解写法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HelloTimeAgent.kt → class OpenAI : Model (TODO)</a:t>
                      </a:r>
                    </a:p>
                  </a:txBody>
                  <a:tcPr marL="73152" marR="73152" marT="36576" marB="36576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实现为 AIBoxModel，对接 AIBox 的 OpenAI 兼容接口</a:t>
                      </a:r>
                    </a:p>
                  </a:txBody>
                  <a:tcPr marL="73152" marR="73152" marT="36576" marB="36576" anchor="ctr">
                    <a:solidFill>
                      <a:srgbClr val="F3F4F6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HelloTimeAgent.kt → model = Gemini(...)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替换为 AIBoxModel(fallback = Gemini(...))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MainActivity.kt</a:t>
                      </a:r>
                    </a:p>
                  </a:txBody>
                  <a:tcPr marL="73152" marR="73152" marT="36576" marB="36576"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增加输入归一化层：语音 / UI / 按键 → UserRequest</a:t>
                      </a:r>
                    </a:p>
                  </a:txBody>
                  <a:tcPr marL="73152" marR="73152" marT="36576" marB="36576" anchor="ctr">
                    <a:solidFill>
                      <a:srgbClr val="F3F4F6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新增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</a:rPr>
                        <a:t>AIBoxManager（发现 + 状态机 + 心跳）、SafetyPolicy（beforeToolCallback）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10515600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>
                <a:solidFill>
                  <a:srgbClr val="FFFFFF"/>
                </a:solidFill>
                <a:latin typeface="Microsoft YaHei"/>
                <a:ea typeface="Microsoft YaHei"/>
              </a:rPr>
              <a:t>总结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017520"/>
            <a:ext cx="10515600" cy="22860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>
                <a:solidFill>
                  <a:srgbClr val="C9D6EA"/>
                </a:solidFill>
                <a:latin typeface="Microsoft YaHei"/>
                <a:ea typeface="Microsoft YaHei"/>
              </a:rPr>
              <a:t>✅ 分层思路正确：输入 → Agent → 推理 → Tools → 输出</a:t>
            </a:r>
          </a:p>
          <a:p>
            <a:pPr algn="l">
              <a:lnSpc>
                <a:spcPct val="140000"/>
              </a:lnSpc>
            </a:pPr>
            <a:r>
              <a:rPr sz="1600" b="0">
                <a:solidFill>
                  <a:srgbClr val="C9D6EA"/>
                </a:solidFill>
                <a:latin typeface="Microsoft YaHei"/>
                <a:ea typeface="Microsoft YaHei"/>
              </a:rPr>
              <a:t>✅ 大模型放 AIBox、Agent 放车机，算力与控制解耦合理</a:t>
            </a:r>
          </a:p>
          <a:p>
            <a:pPr algn="l">
              <a:lnSpc>
                <a:spcPct val="140000"/>
              </a:lnSpc>
            </a:pPr>
            <a:r>
              <a:rPr sz="1600" b="0">
                <a:solidFill>
                  <a:srgbClr val="C9D6EA"/>
                </a:solidFill>
                <a:latin typeface="Microsoft YaHei"/>
                <a:ea typeface="Microsoft YaHei"/>
              </a:rPr>
              <a:t>⚠ 关键修正：不是“AIBox 回调 Agent”，而是“Agent 反复调用 AIBox，AIBox 只返回决策，Agent 自己执行并再问”</a:t>
            </a:r>
          </a:p>
          <a:p>
            <a:pPr algn="l">
              <a:lnSpc>
                <a:spcPct val="140000"/>
              </a:lnSpc>
            </a:pPr>
            <a:r>
              <a:rPr sz="1600" b="0">
                <a:solidFill>
                  <a:srgbClr val="C9D6EA"/>
                </a:solidFill>
                <a:latin typeface="Microsoft YaHei"/>
                <a:ea typeface="Microsoft YaHei"/>
              </a:rPr>
              <a:t>⚠ 必须补齐：ASR/TTS 环节、热插拔状态机与降级、Tools 安全分级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486400"/>
            <a:ext cx="1051560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>
                <a:solidFill>
                  <a:srgbClr val="F28C28"/>
                </a:solidFill>
                <a:latin typeface="Microsoft YaHei"/>
                <a:ea typeface="Microsoft YaHei"/>
              </a:rPr>
              <a:t>AIBox = 大脑的推理算力，Agent = 真正的控制中枢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